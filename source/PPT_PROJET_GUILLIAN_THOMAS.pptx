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66" r:id="rId5"/>
    <p:sldId id="269" r:id="rId6"/>
    <p:sldId id="259" r:id="rId7"/>
    <p:sldId id="270" r:id="rId8"/>
    <p:sldId id="271" r:id="rId9"/>
    <p:sldId id="260" r:id="rId10"/>
    <p:sldId id="261" r:id="rId11"/>
    <p:sldId id="262" r:id="rId12"/>
    <p:sldId id="263" r:id="rId13"/>
    <p:sldId id="272" r:id="rId14"/>
    <p:sldId id="264" r:id="rId15"/>
    <p:sldId id="265" r:id="rId16"/>
  </p:sldIdLst>
  <p:sldSz cx="14630400" cy="8229600"/>
  <p:notesSz cx="8229600" cy="14630400"/>
  <p:embeddedFontLst>
    <p:embeddedFont>
      <p:font typeface="Consolas" panose="020B0609020204030204" pitchFamily="49" charset="0"/>
      <p:regular r:id="rId18"/>
      <p:bold r:id="rId19"/>
      <p:italic r:id="rId20"/>
      <p:boldItalic r:id="rId21"/>
    </p:embeddedFont>
    <p:embeddedFont>
      <p:font typeface="MuseoModerno Medium" panose="020B0604020202020204" charset="0"/>
      <p:regular r:id="rId22"/>
    </p:embeddedFont>
    <p:embeddedFont>
      <p:font typeface="Source Sans 3" panose="020B0604020202020204" charset="0"/>
      <p:regular r:id="rId23"/>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3" d="100"/>
          <a:sy n="133" d="100"/>
        </p:scale>
        <p:origin x="255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4641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26378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81829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894865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051921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32713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9"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088080" y="1844461"/>
            <a:ext cx="12680472" cy="1958685"/>
          </a:xfrm>
          <a:prstGeom prst="rect">
            <a:avLst/>
          </a:prstGeom>
          <a:noFill/>
          <a:ln/>
        </p:spPr>
        <p:txBody>
          <a:bodyPr wrap="square" lIns="0" tIns="0" rIns="0" bIns="0" rtlCol="0" anchor="t"/>
          <a:lstStyle/>
          <a:p>
            <a:pPr marL="0" indent="0" algn="l">
              <a:lnSpc>
                <a:spcPts val="4850"/>
              </a:lnSpc>
              <a:buNone/>
            </a:pPr>
            <a:r>
              <a:rPr lang="en-US" sz="4800" b="1" dirty="0">
                <a:solidFill>
                  <a:srgbClr val="124E73"/>
                </a:solidFill>
                <a:latin typeface="MuseoModerno Medium" pitchFamily="34" charset="0"/>
                <a:ea typeface="MuseoModerno Medium" pitchFamily="34" charset="-122"/>
                <a:cs typeface="MuseoModerno Medium" pitchFamily="34" charset="-120"/>
              </a:rPr>
              <a:t>Presentation du Dossier </a:t>
            </a:r>
            <a:r>
              <a:rPr lang="en-US" sz="4800" b="1" dirty="0" err="1">
                <a:solidFill>
                  <a:srgbClr val="124E73"/>
                </a:solidFill>
                <a:latin typeface="MuseoModerno Medium" pitchFamily="34" charset="0"/>
                <a:ea typeface="MuseoModerno Medium" pitchFamily="34" charset="-122"/>
                <a:cs typeface="MuseoModerno Medium" pitchFamily="34" charset="-120"/>
              </a:rPr>
              <a:t>Projet</a:t>
            </a:r>
            <a:endParaRPr lang="en-US" sz="4800" b="1" dirty="0">
              <a:solidFill>
                <a:srgbClr val="124E73"/>
              </a:solidFill>
              <a:latin typeface="MuseoModerno Medium" pitchFamily="34" charset="0"/>
              <a:ea typeface="MuseoModerno Medium" pitchFamily="34" charset="-122"/>
              <a:cs typeface="MuseoModerno Medium" pitchFamily="34" charset="-120"/>
            </a:endParaRPr>
          </a:p>
          <a:p>
            <a:pPr marL="0" indent="0" algn="l">
              <a:lnSpc>
                <a:spcPts val="4850"/>
              </a:lnSpc>
              <a:buNone/>
            </a:pPr>
            <a:endParaRPr lang="en-US" sz="4800" b="1" dirty="0">
              <a:solidFill>
                <a:srgbClr val="124E73"/>
              </a:solidFill>
              <a:latin typeface="MuseoModerno Medium" pitchFamily="34" charset="0"/>
              <a:ea typeface="MuseoModerno Medium" pitchFamily="34" charset="-122"/>
              <a:cs typeface="MuseoModerno Medium" pitchFamily="34" charset="-120"/>
            </a:endParaRPr>
          </a:p>
          <a:p>
            <a:pPr marL="0" indent="0" algn="l">
              <a:lnSpc>
                <a:spcPts val="4850"/>
              </a:lnSpc>
              <a:buNone/>
            </a:pPr>
            <a:r>
              <a:rPr lang="en-US" sz="4800" b="1" dirty="0" err="1">
                <a:solidFill>
                  <a:srgbClr val="124E73"/>
                </a:solidFill>
                <a:latin typeface="MuseoModerno Medium" pitchFamily="34" charset="0"/>
              </a:rPr>
              <a:t>Titre</a:t>
            </a:r>
            <a:r>
              <a:rPr lang="en-US" sz="4800" b="1" dirty="0">
                <a:solidFill>
                  <a:srgbClr val="124E73"/>
                </a:solidFill>
                <a:latin typeface="MuseoModerno Medium" pitchFamily="34" charset="0"/>
              </a:rPr>
              <a:t> </a:t>
            </a:r>
            <a:r>
              <a:rPr lang="en-US" sz="4800" b="1" dirty="0" err="1">
                <a:solidFill>
                  <a:srgbClr val="124E73"/>
                </a:solidFill>
                <a:latin typeface="MuseoModerno Medium" pitchFamily="34" charset="0"/>
              </a:rPr>
              <a:t>Professionnel</a:t>
            </a:r>
            <a:endParaRPr lang="en-US" sz="4800" b="1" dirty="0">
              <a:solidFill>
                <a:srgbClr val="124E73"/>
              </a:solidFill>
              <a:latin typeface="MuseoModerno Medium" pitchFamily="34" charset="0"/>
            </a:endParaRPr>
          </a:p>
          <a:p>
            <a:pPr marL="0" indent="0" algn="l">
              <a:lnSpc>
                <a:spcPts val="4850"/>
              </a:lnSpc>
              <a:buNone/>
            </a:pPr>
            <a:endParaRPr lang="en-US" sz="4800" b="1" dirty="0">
              <a:solidFill>
                <a:srgbClr val="124E73"/>
              </a:solidFill>
              <a:latin typeface="MuseoModerno Medium" pitchFamily="34" charset="0"/>
            </a:endParaRPr>
          </a:p>
          <a:p>
            <a:pPr marL="0" indent="0" algn="l">
              <a:lnSpc>
                <a:spcPts val="4850"/>
              </a:lnSpc>
              <a:buNone/>
            </a:pPr>
            <a:r>
              <a:rPr lang="en-US" sz="4800" b="1" dirty="0" err="1">
                <a:solidFill>
                  <a:srgbClr val="124E73"/>
                </a:solidFill>
                <a:latin typeface="MuseoModerno Medium" pitchFamily="34" charset="0"/>
              </a:rPr>
              <a:t>Administrateur</a:t>
            </a:r>
            <a:r>
              <a:rPr lang="en-US" sz="4800" b="1" dirty="0">
                <a:solidFill>
                  <a:srgbClr val="124E73"/>
                </a:solidFill>
                <a:latin typeface="MuseoModerno Medium" pitchFamily="34" charset="0"/>
              </a:rPr>
              <a:t> </a:t>
            </a:r>
            <a:r>
              <a:rPr lang="en-US" sz="4800" b="1" dirty="0" err="1">
                <a:solidFill>
                  <a:srgbClr val="124E73"/>
                </a:solidFill>
                <a:latin typeface="MuseoModerno Medium" pitchFamily="34" charset="0"/>
              </a:rPr>
              <a:t>Systemes</a:t>
            </a:r>
            <a:r>
              <a:rPr lang="en-US" sz="4800" b="1" dirty="0">
                <a:solidFill>
                  <a:srgbClr val="124E73"/>
                </a:solidFill>
                <a:latin typeface="MuseoModerno Medium" pitchFamily="34" charset="0"/>
              </a:rPr>
              <a:t> DevOps</a:t>
            </a:r>
            <a:endParaRPr lang="en-US" sz="4800" b="1" dirty="0"/>
          </a:p>
        </p:txBody>
      </p:sp>
      <p:sp>
        <p:nvSpPr>
          <p:cNvPr id="4" name="Text 1"/>
          <p:cNvSpPr/>
          <p:nvPr/>
        </p:nvSpPr>
        <p:spPr>
          <a:xfrm>
            <a:off x="3536989" y="6700390"/>
            <a:ext cx="7556421" cy="317540"/>
          </a:xfrm>
          <a:prstGeom prst="rect">
            <a:avLst/>
          </a:prstGeom>
          <a:noFill/>
          <a:ln/>
        </p:spPr>
        <p:txBody>
          <a:bodyPr wrap="none" lIns="0" tIns="0" rIns="0" bIns="0" rtlCol="0" anchor="t"/>
          <a:lstStyle/>
          <a:p>
            <a:pPr marL="0" indent="0" algn="l">
              <a:lnSpc>
                <a:spcPts val="2500"/>
              </a:lnSpc>
              <a:buNone/>
            </a:pPr>
            <a:r>
              <a:rPr lang="en-US" sz="2400" b="1" dirty="0">
                <a:solidFill>
                  <a:srgbClr val="2B4150"/>
                </a:solidFill>
                <a:latin typeface="Source Sans 3" pitchFamily="34" charset="0"/>
                <a:ea typeface="Source Sans 3" pitchFamily="34" charset="-122"/>
                <a:cs typeface="Source Sans 3" pitchFamily="34" charset="-120"/>
              </a:rPr>
              <a:t>Bachelor Administrateur Système DevOps</a:t>
            </a:r>
            <a:r>
              <a:rPr lang="en-US" sz="2400" dirty="0">
                <a:solidFill>
                  <a:srgbClr val="2B4150"/>
                </a:solidFill>
                <a:latin typeface="Source Sans 3" pitchFamily="34" charset="0"/>
                <a:ea typeface="Source Sans 3" pitchFamily="34" charset="-122"/>
                <a:cs typeface="Source Sans 3" pitchFamily="34" charset="-120"/>
              </a:rPr>
              <a:t> · Thomas Guillian</a:t>
            </a:r>
            <a:endParaRPr lang="en-US" sz="2400" dirty="0"/>
          </a:p>
        </p:txBody>
      </p:sp>
      <p:sp>
        <p:nvSpPr>
          <p:cNvPr id="6" name="Text 3"/>
          <p:cNvSpPr/>
          <p:nvPr/>
        </p:nvSpPr>
        <p:spPr>
          <a:xfrm>
            <a:off x="912852" y="5337096"/>
            <a:ext cx="1545788" cy="254079"/>
          </a:xfrm>
          <a:prstGeom prst="rect">
            <a:avLst/>
          </a:prstGeom>
          <a:noFill/>
          <a:ln/>
        </p:spPr>
        <p:txBody>
          <a:bodyPr wrap="none" lIns="0" tIns="0" rIns="0" bIns="0" rtlCol="0" anchor="t"/>
          <a:lstStyle/>
          <a:p>
            <a:pPr marL="0" indent="0" algn="l">
              <a:lnSpc>
                <a:spcPts val="2000"/>
              </a:lnSpc>
              <a:buNone/>
            </a:pPr>
            <a:endParaRPr lang="en-US" sz="1250" dirty="0"/>
          </a:p>
        </p:txBody>
      </p:sp>
      <p:sp>
        <p:nvSpPr>
          <p:cNvPr id="8" name="Text 5"/>
          <p:cNvSpPr/>
          <p:nvPr/>
        </p:nvSpPr>
        <p:spPr>
          <a:xfrm>
            <a:off x="2803565" y="5337096"/>
            <a:ext cx="1589365" cy="254079"/>
          </a:xfrm>
          <a:prstGeom prst="rect">
            <a:avLst/>
          </a:prstGeom>
          <a:noFill/>
          <a:ln/>
        </p:spPr>
        <p:txBody>
          <a:bodyPr wrap="none" lIns="0" tIns="0" rIns="0" bIns="0" rtlCol="0" anchor="t"/>
          <a:lstStyle/>
          <a:p>
            <a:pPr marL="0" indent="0" algn="l">
              <a:lnSpc>
                <a:spcPts val="2000"/>
              </a:lnSpc>
              <a:buNone/>
            </a:pPr>
            <a:endParaRPr lang="en-US" sz="1250" dirty="0"/>
          </a:p>
        </p:txBody>
      </p:sp>
      <p:pic>
        <p:nvPicPr>
          <p:cNvPr id="10" name="Image 9">
            <a:extLst>
              <a:ext uri="{FF2B5EF4-FFF2-40B4-BE49-F238E27FC236}">
                <a16:creationId xmlns:a16="http://schemas.microsoft.com/office/drawing/2014/main" id="{09A253E6-16FA-113F-1EE7-3C8C05DFAD67}"/>
              </a:ext>
            </a:extLst>
          </p:cNvPr>
          <p:cNvPicPr>
            <a:picLocks noChangeAspect="1"/>
          </p:cNvPicPr>
          <p:nvPr/>
        </p:nvPicPr>
        <p:blipFill>
          <a:blip r:embed="rId3"/>
          <a:stretch>
            <a:fillRect/>
          </a:stretch>
        </p:blipFill>
        <p:spPr>
          <a:xfrm>
            <a:off x="10629342" y="7341057"/>
            <a:ext cx="4001058" cy="7906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3398" y="626745"/>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Sommaire du Projet</a:t>
            </a:r>
            <a:endParaRPr lang="en-US" sz="3900" dirty="0"/>
          </a:p>
        </p:txBody>
      </p:sp>
      <p:sp>
        <p:nvSpPr>
          <p:cNvPr id="3" name="Text 1"/>
          <p:cNvSpPr/>
          <p:nvPr/>
        </p:nvSpPr>
        <p:spPr>
          <a:xfrm>
            <a:off x="467969" y="1586444"/>
            <a:ext cx="13279562" cy="635079"/>
          </a:xfrm>
          <a:prstGeom prst="rect">
            <a:avLst/>
          </a:prstGeom>
          <a:noFill/>
          <a:ln/>
        </p:spPr>
        <p:txBody>
          <a:bodyPr wrap="square" lIns="0" tIns="0" rIns="0" bIns="0" rtlCol="0" anchor="t"/>
          <a:lstStyle/>
          <a:p>
            <a:pPr marL="0" indent="0" algn="l">
              <a:lnSpc>
                <a:spcPts val="2500"/>
              </a:lnSpc>
              <a:buNone/>
            </a:pPr>
            <a:r>
              <a:rPr lang="en-US" dirty="0">
                <a:solidFill>
                  <a:srgbClr val="2B4150"/>
                </a:solidFill>
                <a:latin typeface="Source Sans 3" pitchFamily="34" charset="0"/>
                <a:ea typeface="Source Sans 3" pitchFamily="34" charset="-122"/>
                <a:cs typeface="Source Sans 3" pitchFamily="34" charset="-120"/>
              </a:rPr>
              <a:t>Ce dossier couvre l'ensemble du parcours de déploiement et d'automatisation de l'application </a:t>
            </a:r>
            <a:r>
              <a:rPr lang="en-US" b="1" dirty="0">
                <a:solidFill>
                  <a:srgbClr val="2B4150"/>
                </a:solidFill>
                <a:latin typeface="Source Sans 3" pitchFamily="34" charset="0"/>
                <a:ea typeface="Source Sans 3" pitchFamily="34" charset="-122"/>
                <a:cs typeface="Source Sans 3" pitchFamily="34" charset="-120"/>
              </a:rPr>
              <a:t>Pasta</a:t>
            </a:r>
            <a:r>
              <a:rPr lang="en-US" dirty="0">
                <a:solidFill>
                  <a:srgbClr val="2B4150"/>
                </a:solidFill>
                <a:latin typeface="Source Sans 3" pitchFamily="34" charset="0"/>
                <a:ea typeface="Source Sans 3" pitchFamily="34" charset="-122"/>
                <a:cs typeface="Source Sans 3" pitchFamily="34" charset="-120"/>
              </a:rPr>
              <a:t>, de l'infrastructure locale jusqu'à la mise en production dans le cloud. Chaque section correspond à une compétence clé du titre professionnel d'administrateur systèmes DevOps.</a:t>
            </a:r>
            <a:endParaRPr lang="en-US" dirty="0"/>
          </a:p>
        </p:txBody>
      </p:sp>
      <p:sp>
        <p:nvSpPr>
          <p:cNvPr id="4" name="Text 2"/>
          <p:cNvSpPr/>
          <p:nvPr/>
        </p:nvSpPr>
        <p:spPr>
          <a:xfrm>
            <a:off x="793790" y="312205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01</a:t>
            </a:r>
            <a:endParaRPr lang="en-US" sz="1550" dirty="0"/>
          </a:p>
        </p:txBody>
      </p:sp>
      <p:sp>
        <p:nvSpPr>
          <p:cNvPr id="5" name="Shape 3"/>
          <p:cNvSpPr/>
          <p:nvPr/>
        </p:nvSpPr>
        <p:spPr>
          <a:xfrm>
            <a:off x="793790" y="3436382"/>
            <a:ext cx="4215289" cy="22860"/>
          </a:xfrm>
          <a:prstGeom prst="rect">
            <a:avLst/>
          </a:prstGeom>
          <a:solidFill>
            <a:srgbClr val="325F7B"/>
          </a:solidFill>
          <a:ln/>
        </p:spPr>
      </p:sp>
      <p:sp>
        <p:nvSpPr>
          <p:cNvPr id="6" name="Text 4"/>
          <p:cNvSpPr/>
          <p:nvPr/>
        </p:nvSpPr>
        <p:spPr>
          <a:xfrm>
            <a:off x="793790" y="3581281"/>
            <a:ext cx="4100632" cy="310158"/>
          </a:xfrm>
          <a:prstGeom prst="rect">
            <a:avLst/>
          </a:prstGeom>
          <a:noFill/>
          <a:ln/>
        </p:spPr>
        <p:txBody>
          <a:bodyPr wrap="none" lIns="0" tIns="0" rIns="0" bIns="0" rtlCol="0" anchor="t"/>
          <a:lstStyle/>
          <a:p>
            <a:pPr marL="0" indent="0" algn="l">
              <a:lnSpc>
                <a:spcPts val="2400"/>
              </a:lnSpc>
              <a:buNone/>
            </a:pPr>
            <a:r>
              <a:rPr lang="en-US" sz="2000" dirty="0">
                <a:solidFill>
                  <a:srgbClr val="2B4150"/>
                </a:solidFill>
                <a:latin typeface="MuseoModerno Medium" pitchFamily="34" charset="0"/>
                <a:ea typeface="MuseoModerno Medium" pitchFamily="34" charset="-122"/>
                <a:cs typeface="MuseoModerno Medium" pitchFamily="34" charset="-120"/>
              </a:rPr>
              <a:t>Présentation du projet et contexte</a:t>
            </a:r>
            <a:endParaRPr lang="en-US" sz="2000" dirty="0"/>
          </a:p>
        </p:txBody>
      </p:sp>
      <p:sp>
        <p:nvSpPr>
          <p:cNvPr id="7" name="Text 5"/>
          <p:cNvSpPr/>
          <p:nvPr/>
        </p:nvSpPr>
        <p:spPr>
          <a:xfrm>
            <a:off x="793790" y="4010501"/>
            <a:ext cx="4215289" cy="952619"/>
          </a:xfrm>
          <a:prstGeom prst="rect">
            <a:avLst/>
          </a:prstGeom>
          <a:noFill/>
          <a:ln/>
        </p:spPr>
        <p:txBody>
          <a:bodyPr wrap="square" lIns="0" tIns="0" rIns="0" bIns="0" rtlCol="0" anchor="t"/>
          <a:lstStyle/>
          <a:p>
            <a:pPr marL="0" indent="0" algn="l">
              <a:lnSpc>
                <a:spcPts val="2500"/>
              </a:lnSpc>
              <a:buNone/>
            </a:pPr>
            <a:r>
              <a:rPr lang="en-US" sz="1600" dirty="0">
                <a:solidFill>
                  <a:srgbClr val="2B4150"/>
                </a:solidFill>
                <a:latin typeface="Source Sans 3" pitchFamily="34" charset="0"/>
                <a:ea typeface="Source Sans 3" pitchFamily="34" charset="-122"/>
                <a:cs typeface="Source Sans 3" pitchFamily="34" charset="-120"/>
              </a:rPr>
              <a:t>L'application Pasta, son origine, ses objectifs pédagogiques et l'environnement de travail exploré.</a:t>
            </a:r>
            <a:endParaRPr lang="en-US" sz="1600" dirty="0"/>
          </a:p>
        </p:txBody>
      </p:sp>
      <p:sp>
        <p:nvSpPr>
          <p:cNvPr id="8" name="Text 6"/>
          <p:cNvSpPr/>
          <p:nvPr/>
        </p:nvSpPr>
        <p:spPr>
          <a:xfrm>
            <a:off x="5207437" y="312205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02</a:t>
            </a:r>
            <a:endParaRPr lang="en-US" sz="1550" dirty="0"/>
          </a:p>
        </p:txBody>
      </p:sp>
      <p:sp>
        <p:nvSpPr>
          <p:cNvPr id="9" name="Shape 7"/>
          <p:cNvSpPr/>
          <p:nvPr/>
        </p:nvSpPr>
        <p:spPr>
          <a:xfrm>
            <a:off x="5207437" y="3436382"/>
            <a:ext cx="4215408" cy="22860"/>
          </a:xfrm>
          <a:prstGeom prst="rect">
            <a:avLst/>
          </a:prstGeom>
          <a:solidFill>
            <a:srgbClr val="325F7B"/>
          </a:solidFill>
          <a:ln/>
        </p:spPr>
      </p:sp>
      <p:sp>
        <p:nvSpPr>
          <p:cNvPr id="10" name="Text 8"/>
          <p:cNvSpPr/>
          <p:nvPr/>
        </p:nvSpPr>
        <p:spPr>
          <a:xfrm>
            <a:off x="5207437" y="3581281"/>
            <a:ext cx="4215408" cy="620316"/>
          </a:xfrm>
          <a:prstGeom prst="rect">
            <a:avLst/>
          </a:prstGeom>
          <a:noFill/>
          <a:ln/>
        </p:spPr>
        <p:txBody>
          <a:bodyPr wrap="square" lIns="0" tIns="0" rIns="0" bIns="0" rtlCol="0" anchor="t"/>
          <a:lstStyle/>
          <a:p>
            <a:pPr marL="0" indent="0" algn="l">
              <a:lnSpc>
                <a:spcPts val="2400"/>
              </a:lnSpc>
              <a:buNone/>
            </a:pPr>
            <a:r>
              <a:rPr lang="en-US" sz="2000" dirty="0">
                <a:solidFill>
                  <a:srgbClr val="2B4150"/>
                </a:solidFill>
                <a:latin typeface="MuseoModerno Medium" pitchFamily="34" charset="0"/>
                <a:ea typeface="MuseoModerno Medium" pitchFamily="34" charset="-122"/>
                <a:cs typeface="MuseoModerno Medium" pitchFamily="34" charset="-120"/>
              </a:rPr>
              <a:t>Automatiser le déploiement d'une infrastructure</a:t>
            </a:r>
            <a:endParaRPr lang="en-US" sz="2000" dirty="0"/>
          </a:p>
        </p:txBody>
      </p:sp>
      <p:sp>
        <p:nvSpPr>
          <p:cNvPr id="11" name="Text 9"/>
          <p:cNvSpPr/>
          <p:nvPr/>
        </p:nvSpPr>
        <p:spPr>
          <a:xfrm>
            <a:off x="5207437" y="4320659"/>
            <a:ext cx="4215408" cy="635079"/>
          </a:xfrm>
          <a:prstGeom prst="rect">
            <a:avLst/>
          </a:prstGeom>
          <a:noFill/>
          <a:ln/>
        </p:spPr>
        <p:txBody>
          <a:bodyPr wrap="square" lIns="0" tIns="0" rIns="0" bIns="0" rtlCol="0" anchor="t"/>
          <a:lstStyle/>
          <a:p>
            <a:pPr marL="0" indent="0" algn="l">
              <a:lnSpc>
                <a:spcPts val="2500"/>
              </a:lnSpc>
              <a:buNone/>
            </a:pPr>
            <a:r>
              <a:rPr lang="en-US" sz="1600" dirty="0">
                <a:solidFill>
                  <a:srgbClr val="2B4150"/>
                </a:solidFill>
                <a:latin typeface="Source Sans 3" pitchFamily="34" charset="0"/>
                <a:ea typeface="Source Sans 3" pitchFamily="34" charset="-122"/>
                <a:cs typeface="Source Sans 3" pitchFamily="34" charset="-120"/>
              </a:rPr>
              <a:t>Hyper-V, Terraform, GitLab CI/CD, Railway, Oracle Cloud et Google Cloud Platform….</a:t>
            </a:r>
            <a:endParaRPr lang="en-US" sz="1600" dirty="0"/>
          </a:p>
        </p:txBody>
      </p:sp>
      <p:sp>
        <p:nvSpPr>
          <p:cNvPr id="12" name="Text 10"/>
          <p:cNvSpPr/>
          <p:nvPr/>
        </p:nvSpPr>
        <p:spPr>
          <a:xfrm>
            <a:off x="9621203" y="312205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03</a:t>
            </a:r>
            <a:endParaRPr lang="en-US" sz="1550" dirty="0"/>
          </a:p>
        </p:txBody>
      </p:sp>
      <p:sp>
        <p:nvSpPr>
          <p:cNvPr id="13" name="Shape 11"/>
          <p:cNvSpPr/>
          <p:nvPr/>
        </p:nvSpPr>
        <p:spPr>
          <a:xfrm>
            <a:off x="9621203" y="3436382"/>
            <a:ext cx="4215289" cy="22860"/>
          </a:xfrm>
          <a:prstGeom prst="rect">
            <a:avLst/>
          </a:prstGeom>
          <a:solidFill>
            <a:srgbClr val="325F7B"/>
          </a:solidFill>
          <a:ln/>
        </p:spPr>
      </p:sp>
      <p:sp>
        <p:nvSpPr>
          <p:cNvPr id="14" name="Text 12"/>
          <p:cNvSpPr/>
          <p:nvPr/>
        </p:nvSpPr>
        <p:spPr>
          <a:xfrm>
            <a:off x="9621203" y="3581281"/>
            <a:ext cx="2480905" cy="310158"/>
          </a:xfrm>
          <a:prstGeom prst="rect">
            <a:avLst/>
          </a:prstGeom>
          <a:noFill/>
          <a:ln/>
        </p:spPr>
        <p:txBody>
          <a:bodyPr wrap="none" lIns="0" tIns="0" rIns="0" bIns="0" rtlCol="0" anchor="t"/>
          <a:lstStyle/>
          <a:p>
            <a:pPr marL="0" indent="0" algn="l">
              <a:lnSpc>
                <a:spcPts val="2400"/>
              </a:lnSpc>
              <a:buNone/>
            </a:pPr>
            <a:r>
              <a:rPr lang="en-US" sz="2000" dirty="0">
                <a:solidFill>
                  <a:srgbClr val="2B4150"/>
                </a:solidFill>
                <a:latin typeface="MuseoModerno Medium" pitchFamily="34" charset="0"/>
                <a:ea typeface="MuseoModerno Medium" pitchFamily="34" charset="-122"/>
                <a:cs typeface="MuseoModerno Medium" pitchFamily="34" charset="-120"/>
              </a:rPr>
              <a:t>Gérer les containers</a:t>
            </a:r>
            <a:endParaRPr lang="en-US" sz="2000" dirty="0"/>
          </a:p>
        </p:txBody>
      </p:sp>
      <p:sp>
        <p:nvSpPr>
          <p:cNvPr id="15" name="Text 13"/>
          <p:cNvSpPr/>
          <p:nvPr/>
        </p:nvSpPr>
        <p:spPr>
          <a:xfrm>
            <a:off x="9621203" y="4010501"/>
            <a:ext cx="4215289" cy="635079"/>
          </a:xfrm>
          <a:prstGeom prst="rect">
            <a:avLst/>
          </a:prstGeom>
          <a:noFill/>
          <a:ln/>
        </p:spPr>
        <p:txBody>
          <a:bodyPr wrap="square" lIns="0" tIns="0" rIns="0" bIns="0" rtlCol="0" anchor="t"/>
          <a:lstStyle/>
          <a:p>
            <a:pPr marL="0" indent="0" algn="l">
              <a:lnSpc>
                <a:spcPts val="2500"/>
              </a:lnSpc>
              <a:buNone/>
            </a:pPr>
            <a:r>
              <a:rPr lang="en-US" sz="1600" dirty="0">
                <a:solidFill>
                  <a:srgbClr val="2B4150"/>
                </a:solidFill>
                <a:latin typeface="Source Sans 3" pitchFamily="34" charset="0"/>
                <a:ea typeface="Source Sans 3" pitchFamily="34" charset="-122"/>
                <a:cs typeface="Source Sans 3" pitchFamily="34" charset="-120"/>
              </a:rPr>
              <a:t>Docker, </a:t>
            </a:r>
            <a:r>
              <a:rPr lang="en-US" sz="1600" dirty="0" err="1">
                <a:solidFill>
                  <a:srgbClr val="2B4150"/>
                </a:solidFill>
                <a:latin typeface="Source Sans 3" pitchFamily="34" charset="0"/>
                <a:ea typeface="Source Sans 3" pitchFamily="34" charset="-122"/>
                <a:cs typeface="Source Sans 3" pitchFamily="34" charset="-120"/>
              </a:rPr>
              <a:t>Environnements</a:t>
            </a:r>
            <a:r>
              <a:rPr lang="en-US" sz="1600" dirty="0">
                <a:solidFill>
                  <a:srgbClr val="2B4150"/>
                </a:solidFill>
                <a:latin typeface="Source Sans 3" pitchFamily="34" charset="0"/>
                <a:ea typeface="Source Sans 3" pitchFamily="34" charset="-122"/>
                <a:cs typeface="Source Sans 3" pitchFamily="34" charset="-120"/>
              </a:rPr>
              <a:t> de test, </a:t>
            </a:r>
            <a:r>
              <a:rPr lang="en-US" sz="1600" dirty="0" err="1">
                <a:solidFill>
                  <a:srgbClr val="2B4150"/>
                </a:solidFill>
                <a:latin typeface="Source Sans 3" pitchFamily="34" charset="0"/>
                <a:ea typeface="Source Sans 3" pitchFamily="34" charset="-122"/>
                <a:cs typeface="Source Sans 3" pitchFamily="34" charset="-120"/>
              </a:rPr>
              <a:t>Volumes,Ansible</a:t>
            </a:r>
            <a:r>
              <a:rPr lang="en-US" sz="1600" dirty="0">
                <a:solidFill>
                  <a:srgbClr val="2B4150"/>
                </a:solidFill>
                <a:latin typeface="Source Sans 3" pitchFamily="34" charset="0"/>
                <a:ea typeface="Source Sans 3" pitchFamily="34" charset="-122"/>
                <a:cs typeface="Source Sans 3" pitchFamily="34" charset="-120"/>
              </a:rPr>
              <a:t>.</a:t>
            </a:r>
            <a:endParaRPr lang="en-US" sz="1600" dirty="0"/>
          </a:p>
        </p:txBody>
      </p:sp>
      <p:sp>
        <p:nvSpPr>
          <p:cNvPr id="16" name="Text 14"/>
          <p:cNvSpPr/>
          <p:nvPr/>
        </p:nvSpPr>
        <p:spPr>
          <a:xfrm>
            <a:off x="793790" y="531030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04</a:t>
            </a:r>
            <a:endParaRPr lang="en-US" sz="1550" dirty="0"/>
          </a:p>
        </p:txBody>
      </p:sp>
      <p:sp>
        <p:nvSpPr>
          <p:cNvPr id="17" name="Shape 15"/>
          <p:cNvSpPr/>
          <p:nvPr/>
        </p:nvSpPr>
        <p:spPr>
          <a:xfrm>
            <a:off x="793790" y="5624632"/>
            <a:ext cx="6422112" cy="22860"/>
          </a:xfrm>
          <a:prstGeom prst="rect">
            <a:avLst/>
          </a:prstGeom>
          <a:solidFill>
            <a:srgbClr val="325F7B"/>
          </a:solidFill>
          <a:ln/>
        </p:spPr>
      </p:sp>
      <p:sp>
        <p:nvSpPr>
          <p:cNvPr id="18" name="Text 16"/>
          <p:cNvSpPr/>
          <p:nvPr/>
        </p:nvSpPr>
        <p:spPr>
          <a:xfrm>
            <a:off x="793790" y="5769531"/>
            <a:ext cx="4421029" cy="310158"/>
          </a:xfrm>
          <a:prstGeom prst="rect">
            <a:avLst/>
          </a:prstGeom>
          <a:noFill/>
          <a:ln/>
        </p:spPr>
        <p:txBody>
          <a:bodyPr wrap="none" lIns="0" tIns="0" rIns="0" bIns="0" rtlCol="0" anchor="t"/>
          <a:lstStyle/>
          <a:p>
            <a:pPr marL="0" indent="0" algn="l">
              <a:lnSpc>
                <a:spcPts val="2400"/>
              </a:lnSpc>
              <a:buNone/>
            </a:pPr>
            <a:r>
              <a:rPr lang="en-US" sz="2000" dirty="0">
                <a:solidFill>
                  <a:srgbClr val="2B4150"/>
                </a:solidFill>
                <a:latin typeface="MuseoModerno Medium" pitchFamily="34" charset="0"/>
                <a:ea typeface="MuseoModerno Medium" pitchFamily="34" charset="-122"/>
                <a:cs typeface="MuseoModerno Medium" pitchFamily="34" charset="-120"/>
              </a:rPr>
              <a:t>Exploiter une solution de supervision</a:t>
            </a:r>
            <a:endParaRPr lang="en-US" sz="2000" dirty="0"/>
          </a:p>
        </p:txBody>
      </p:sp>
      <p:sp>
        <p:nvSpPr>
          <p:cNvPr id="19" name="Text 17"/>
          <p:cNvSpPr/>
          <p:nvPr/>
        </p:nvSpPr>
        <p:spPr>
          <a:xfrm>
            <a:off x="793790" y="6198751"/>
            <a:ext cx="6422112" cy="635079"/>
          </a:xfrm>
          <a:prstGeom prst="rect">
            <a:avLst/>
          </a:prstGeom>
          <a:noFill/>
          <a:ln/>
        </p:spPr>
        <p:txBody>
          <a:bodyPr wrap="square" lIns="0" tIns="0" rIns="0" bIns="0" rtlCol="0" anchor="t"/>
          <a:lstStyle/>
          <a:p>
            <a:pPr marL="0" indent="0" algn="l">
              <a:lnSpc>
                <a:spcPts val="2500"/>
              </a:lnSpc>
              <a:buNone/>
            </a:pPr>
            <a:r>
              <a:rPr lang="en-US" sz="1600" dirty="0">
                <a:solidFill>
                  <a:srgbClr val="2B4150"/>
                </a:solidFill>
                <a:latin typeface="Source Sans 3" pitchFamily="34" charset="0"/>
                <a:ea typeface="Source Sans 3" pitchFamily="34" charset="-122"/>
                <a:cs typeface="Source Sans 3" pitchFamily="34" charset="-120"/>
              </a:rPr>
              <a:t>Uptime Kuma, </a:t>
            </a:r>
            <a:r>
              <a:rPr lang="en-US" sz="1600" dirty="0" err="1">
                <a:solidFill>
                  <a:srgbClr val="2B4150"/>
                </a:solidFill>
                <a:latin typeface="Source Sans 3" pitchFamily="34" charset="0"/>
                <a:ea typeface="Source Sans 3" pitchFamily="34" charset="-122"/>
                <a:cs typeface="Source Sans 3" pitchFamily="34" charset="-120"/>
              </a:rPr>
              <a:t>Métriques</a:t>
            </a:r>
            <a:r>
              <a:rPr lang="en-US" sz="1600" dirty="0">
                <a:solidFill>
                  <a:srgbClr val="2B4150"/>
                </a:solidFill>
                <a:latin typeface="Source Sans 3" pitchFamily="34" charset="0"/>
                <a:ea typeface="Source Sans 3" pitchFamily="34" charset="-122"/>
                <a:cs typeface="Source Sans 3" pitchFamily="34" charset="-120"/>
              </a:rPr>
              <a:t> GCP, </a:t>
            </a:r>
            <a:r>
              <a:rPr lang="en-US" sz="1600" dirty="0" err="1">
                <a:solidFill>
                  <a:srgbClr val="2B4150"/>
                </a:solidFill>
                <a:latin typeface="Source Sans 3" pitchFamily="34" charset="0"/>
                <a:ea typeface="Source Sans 3" pitchFamily="34" charset="-122"/>
                <a:cs typeface="Source Sans 3" pitchFamily="34" charset="-120"/>
              </a:rPr>
              <a:t>Alertes</a:t>
            </a:r>
            <a:r>
              <a:rPr lang="en-US" sz="1600" dirty="0">
                <a:solidFill>
                  <a:srgbClr val="2B4150"/>
                </a:solidFill>
                <a:latin typeface="Source Sans 3" pitchFamily="34" charset="0"/>
                <a:ea typeface="Source Sans 3" pitchFamily="34" charset="-122"/>
                <a:cs typeface="Source Sans 3" pitchFamily="34" charset="-120"/>
              </a:rPr>
              <a:t> mail, Administration mobile et statistiques de service.</a:t>
            </a:r>
            <a:endParaRPr lang="en-US" sz="1600" dirty="0"/>
          </a:p>
        </p:txBody>
      </p:sp>
      <p:sp>
        <p:nvSpPr>
          <p:cNvPr id="20" name="Text 18"/>
          <p:cNvSpPr/>
          <p:nvPr/>
        </p:nvSpPr>
        <p:spPr>
          <a:xfrm>
            <a:off x="7414260" y="5295359"/>
            <a:ext cx="198358" cy="319683"/>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MuseoModerno Light" pitchFamily="34" charset="0"/>
                <a:ea typeface="MuseoModerno Light" pitchFamily="34" charset="-122"/>
              </a:rPr>
              <a:t>05</a:t>
            </a:r>
            <a:endParaRPr lang="en-US" sz="1550" dirty="0"/>
          </a:p>
        </p:txBody>
      </p:sp>
      <p:sp>
        <p:nvSpPr>
          <p:cNvPr id="21" name="Shape 19"/>
          <p:cNvSpPr/>
          <p:nvPr/>
        </p:nvSpPr>
        <p:spPr>
          <a:xfrm>
            <a:off x="7414260" y="5624632"/>
            <a:ext cx="6422231" cy="22860"/>
          </a:xfrm>
          <a:prstGeom prst="rect">
            <a:avLst/>
          </a:prstGeom>
          <a:solidFill>
            <a:srgbClr val="325F7B"/>
          </a:solidFill>
          <a:ln/>
        </p:spPr>
      </p:sp>
      <p:sp>
        <p:nvSpPr>
          <p:cNvPr id="22" name="Text 20"/>
          <p:cNvSpPr/>
          <p:nvPr/>
        </p:nvSpPr>
        <p:spPr>
          <a:xfrm>
            <a:off x="7414260" y="5769531"/>
            <a:ext cx="4276130" cy="310158"/>
          </a:xfrm>
          <a:prstGeom prst="rect">
            <a:avLst/>
          </a:prstGeom>
          <a:noFill/>
          <a:ln/>
        </p:spPr>
        <p:txBody>
          <a:bodyPr wrap="none" lIns="0" tIns="0" rIns="0" bIns="0" rtlCol="0" anchor="t"/>
          <a:lstStyle/>
          <a:p>
            <a:pPr marL="0" indent="0" algn="l">
              <a:lnSpc>
                <a:spcPts val="2400"/>
              </a:lnSpc>
              <a:buNone/>
            </a:pPr>
            <a:r>
              <a:rPr lang="en-US" sz="2000" dirty="0">
                <a:solidFill>
                  <a:srgbClr val="2B4150"/>
                </a:solidFill>
                <a:latin typeface="MuseoModerno Medium" pitchFamily="34" charset="0"/>
                <a:ea typeface="MuseoModerno Medium" pitchFamily="34" charset="-122"/>
                <a:cs typeface="MuseoModerno Medium" pitchFamily="34" charset="-120"/>
              </a:rPr>
              <a:t>Échanges</a:t>
            </a:r>
            <a:r>
              <a:rPr lang="en-US" sz="1950" dirty="0">
                <a:solidFill>
                  <a:srgbClr val="2B4150"/>
                </a:solidFill>
                <a:latin typeface="MuseoModerno Medium" pitchFamily="34" charset="0"/>
                <a:ea typeface="MuseoModerno Medium" pitchFamily="34" charset="-122"/>
                <a:cs typeface="MuseoModerno Medium" pitchFamily="34" charset="-120"/>
              </a:rPr>
              <a:t> professionnels en anglais</a:t>
            </a:r>
            <a:endParaRPr lang="en-US" sz="1950" dirty="0"/>
          </a:p>
        </p:txBody>
      </p:sp>
      <p:sp>
        <p:nvSpPr>
          <p:cNvPr id="23" name="Text 21"/>
          <p:cNvSpPr/>
          <p:nvPr/>
        </p:nvSpPr>
        <p:spPr>
          <a:xfrm>
            <a:off x="7414260" y="6198751"/>
            <a:ext cx="6422231" cy="635079"/>
          </a:xfrm>
          <a:prstGeom prst="rect">
            <a:avLst/>
          </a:prstGeom>
          <a:noFill/>
          <a:ln/>
        </p:spPr>
        <p:txBody>
          <a:bodyPr wrap="square" lIns="0" tIns="0" rIns="0" bIns="0" rtlCol="0" anchor="t"/>
          <a:lstStyle/>
          <a:p>
            <a:pPr marL="0" indent="0" algn="l">
              <a:lnSpc>
                <a:spcPts val="2500"/>
              </a:lnSpc>
              <a:buNone/>
            </a:pPr>
            <a:r>
              <a:rPr lang="en-US" sz="1600" dirty="0" err="1">
                <a:solidFill>
                  <a:srgbClr val="2B4150"/>
                </a:solidFill>
                <a:latin typeface="Source Sans 3" pitchFamily="34" charset="0"/>
                <a:ea typeface="Source Sans 3" pitchFamily="34" charset="-122"/>
                <a:cs typeface="Source Sans 3" pitchFamily="34" charset="-120"/>
              </a:rPr>
              <a:t>Expériences</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professionnels</a:t>
            </a:r>
            <a:r>
              <a:rPr lang="en-US" sz="1600" dirty="0">
                <a:solidFill>
                  <a:srgbClr val="2B4150"/>
                </a:solidFill>
                <a:latin typeface="Source Sans 3" pitchFamily="34" charset="0"/>
                <a:ea typeface="Source Sans 3" pitchFamily="34" charset="-122"/>
                <a:cs typeface="Source Sans 3" pitchFamily="34" charset="-120"/>
              </a:rPr>
              <a:t>, Travail </a:t>
            </a:r>
            <a:r>
              <a:rPr lang="en-US" sz="1600" dirty="0" err="1">
                <a:solidFill>
                  <a:srgbClr val="2B4150"/>
                </a:solidFill>
                <a:latin typeface="Source Sans 3" pitchFamily="34" charset="0"/>
                <a:ea typeface="Source Sans 3" pitchFamily="34" charset="-122"/>
                <a:cs typeface="Source Sans 3" pitchFamily="34" charset="-120"/>
              </a:rPr>
              <a:t>interallié</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multilingue</a:t>
            </a:r>
            <a:r>
              <a:rPr lang="en-US" sz="1600" dirty="0">
                <a:solidFill>
                  <a:srgbClr val="2B4150"/>
                </a:solidFill>
                <a:latin typeface="Source Sans 3" pitchFamily="34" charset="0"/>
                <a:ea typeface="Source Sans 3" pitchFamily="34" charset="-122"/>
                <a:cs typeface="Source Sans 3" pitchFamily="34" charset="-120"/>
              </a:rPr>
              <a:t>, Recherche </a:t>
            </a:r>
            <a:r>
              <a:rPr lang="en-US" sz="1600" dirty="0" err="1">
                <a:solidFill>
                  <a:srgbClr val="2B4150"/>
                </a:solidFill>
                <a:latin typeface="Source Sans 3" pitchFamily="34" charset="0"/>
                <a:ea typeface="Source Sans 3" pitchFamily="34" charset="-122"/>
                <a:cs typeface="Source Sans 3" pitchFamily="34" charset="-120"/>
              </a:rPr>
              <a:t>d’emploi</a:t>
            </a:r>
            <a:r>
              <a:rPr lang="en-US" sz="1600" dirty="0">
                <a:solidFill>
                  <a:srgbClr val="2B4150"/>
                </a:solidFill>
                <a:latin typeface="Source Sans 3" pitchFamily="34" charset="0"/>
                <a:ea typeface="Source Sans 3" pitchFamily="34" charset="-122"/>
                <a:cs typeface="Source Sans 3" pitchFamily="34" charset="-120"/>
              </a:rPr>
              <a:t>.</a:t>
            </a:r>
            <a:endParaRPr lang="en-US" sz="1600" dirty="0"/>
          </a:p>
        </p:txBody>
      </p:sp>
      <p:pic>
        <p:nvPicPr>
          <p:cNvPr id="25" name="Image 24">
            <a:extLst>
              <a:ext uri="{FF2B5EF4-FFF2-40B4-BE49-F238E27FC236}">
                <a16:creationId xmlns:a16="http://schemas.microsoft.com/office/drawing/2014/main" id="{E6E68E95-B926-A435-AC4B-0B283B8B35C7}"/>
              </a:ext>
            </a:extLst>
          </p:cNvPr>
          <p:cNvPicPr>
            <a:picLocks noChangeAspect="1"/>
          </p:cNvPicPr>
          <p:nvPr/>
        </p:nvPicPr>
        <p:blipFill>
          <a:blip r:embed="rId3"/>
          <a:stretch>
            <a:fillRect/>
          </a:stretch>
        </p:blipFill>
        <p:spPr>
          <a:xfrm>
            <a:off x="10534671" y="7417539"/>
            <a:ext cx="4001058" cy="7906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31984"/>
            <a:ext cx="7914084" cy="627698"/>
          </a:xfrm>
          <a:prstGeom prst="rect">
            <a:avLst/>
          </a:prstGeom>
          <a:noFill/>
          <a:ln/>
        </p:spPr>
        <p:txBody>
          <a:bodyPr wrap="none" lIns="0" tIns="0" rIns="0" bIns="0" rtlCol="0" anchor="t"/>
          <a:lstStyle/>
          <a:p>
            <a:pPr marL="0" indent="0" algn="l">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Présentation du Projet : Pasta / Meal Planner</a:t>
            </a:r>
            <a:r>
              <a:rPr lang="en-US" sz="3900" dirty="0">
                <a:solidFill>
                  <a:srgbClr val="000000"/>
                </a:solidFill>
                <a:latin typeface="MuseoModerno Medium" pitchFamily="34" charset="0"/>
                <a:ea typeface="MuseoModerno Medium" pitchFamily="34" charset="-122"/>
                <a:cs typeface="MuseoModerno Medium" pitchFamily="34" charset="-120"/>
              </a:rPr>
              <a:t>🍝</a:t>
            </a:r>
            <a:endParaRPr lang="en-US" sz="3900" dirty="0"/>
          </a:p>
        </p:txBody>
      </p:sp>
      <p:sp>
        <p:nvSpPr>
          <p:cNvPr id="3" name="Text 1"/>
          <p:cNvSpPr/>
          <p:nvPr/>
        </p:nvSpPr>
        <p:spPr>
          <a:xfrm>
            <a:off x="849273" y="1569720"/>
            <a:ext cx="13042821" cy="952619"/>
          </a:xfrm>
          <a:prstGeom prst="rect">
            <a:avLst/>
          </a:prstGeom>
          <a:noFill/>
          <a:ln/>
        </p:spPr>
        <p:txBody>
          <a:bodyPr wrap="square" lIns="0" tIns="0" rIns="0" bIns="0" rtlCol="0" anchor="t"/>
          <a:lstStyle/>
          <a:p>
            <a:pPr marL="0" indent="0" algn="l">
              <a:lnSpc>
                <a:spcPts val="2500"/>
              </a:lnSpc>
              <a:buNone/>
            </a:pPr>
            <a:r>
              <a:rPr lang="en-US" sz="1550" b="1" dirty="0">
                <a:solidFill>
                  <a:srgbClr val="2B4150"/>
                </a:solidFill>
                <a:latin typeface="Source Sans 3" pitchFamily="34" charset="0"/>
                <a:ea typeface="Source Sans 3" pitchFamily="34" charset="-122"/>
                <a:cs typeface="Source Sans 3" pitchFamily="34" charset="-120"/>
              </a:rPr>
              <a:t>Pasta</a:t>
            </a:r>
            <a:r>
              <a:rPr lang="en-US" sz="1550" dirty="0">
                <a:solidFill>
                  <a:srgbClr val="2B4150"/>
                </a:solidFill>
                <a:latin typeface="Source Sans 3" pitchFamily="34" charset="0"/>
                <a:ea typeface="Source Sans 3" pitchFamily="34" charset="-122"/>
                <a:cs typeface="Source Sans 3" pitchFamily="34" charset="-120"/>
              </a:rPr>
              <a:t> est une application web conçue pour évoluer par incrémentation : chaque nouvelle fonctionnalité importante donne lieu à la création d'une nouvelle branche Git. L'outil permet à l'utilisateur de sélectionner une recette de pâtes, de définir un nombre de convives, et reçoit en retour la liste minimale des ingrédients nécessaires à la recette.</a:t>
            </a:r>
            <a:endParaRPr lang="en-US" sz="1550" dirty="0"/>
          </a:p>
        </p:txBody>
      </p:sp>
      <p:sp>
        <p:nvSpPr>
          <p:cNvPr id="4" name="Shape 2"/>
          <p:cNvSpPr/>
          <p:nvPr/>
        </p:nvSpPr>
        <p:spPr>
          <a:xfrm>
            <a:off x="650915" y="2832378"/>
            <a:ext cx="6565106" cy="4765238"/>
          </a:xfrm>
          <a:prstGeom prst="roundRect">
            <a:avLst>
              <a:gd name="adj" fmla="val 625"/>
            </a:avLst>
          </a:prstGeom>
          <a:solidFill>
            <a:srgbClr val="325F7B"/>
          </a:solidFill>
          <a:ln/>
        </p:spPr>
      </p:sp>
      <p:sp>
        <p:nvSpPr>
          <p:cNvPr id="5" name="Text 3"/>
          <p:cNvSpPr/>
          <p:nvPr/>
        </p:nvSpPr>
        <p:spPr>
          <a:xfrm>
            <a:off x="849273" y="3030736"/>
            <a:ext cx="3291126"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MuseoModerno Medium" pitchFamily="34" charset="0"/>
                <a:ea typeface="MuseoModerno Medium" pitchFamily="34" charset="-122"/>
                <a:cs typeface="MuseoModerno Medium" pitchFamily="34" charset="-120"/>
              </a:rPr>
              <a:t>Pourquoi cette application ?</a:t>
            </a:r>
            <a:endParaRPr lang="en-US" sz="1950" dirty="0"/>
          </a:p>
        </p:txBody>
      </p:sp>
      <p:sp>
        <p:nvSpPr>
          <p:cNvPr id="6" name="Text 4"/>
          <p:cNvSpPr/>
          <p:nvPr/>
        </p:nvSpPr>
        <p:spPr>
          <a:xfrm>
            <a:off x="849273" y="3539252"/>
            <a:ext cx="6168390" cy="127015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Source Sans 3" pitchFamily="34" charset="0"/>
                <a:ea typeface="Source Sans 3" pitchFamily="34" charset="-122"/>
                <a:cs typeface="Source Sans 3" pitchFamily="34" charset="-120"/>
              </a:rPr>
              <a:t>L'application est volontairement simple : pas de base de données complexe, pas d'authentification lourde. Cette simplicité est un </a:t>
            </a:r>
            <a:r>
              <a:rPr lang="en-US" sz="1550" b="1" dirty="0">
                <a:solidFill>
                  <a:srgbClr val="FFFFFF"/>
                </a:solidFill>
                <a:latin typeface="Source Sans 3" pitchFamily="34" charset="0"/>
                <a:ea typeface="Source Sans 3" pitchFamily="34" charset="-122"/>
                <a:cs typeface="Source Sans 3" pitchFamily="34" charset="-120"/>
              </a:rPr>
              <a:t>atout pédagogique</a:t>
            </a:r>
            <a:r>
              <a:rPr lang="en-US" sz="1550" dirty="0">
                <a:solidFill>
                  <a:srgbClr val="FFFFFF"/>
                </a:solidFill>
                <a:latin typeface="Source Sans 3" pitchFamily="34" charset="0"/>
                <a:ea typeface="Source Sans 3" pitchFamily="34" charset="-122"/>
                <a:cs typeface="Source Sans 3" pitchFamily="34" charset="-120"/>
              </a:rPr>
              <a:t> — elle permet de concentrer l'effort sur les outils DevOps eux-mêmes plutôt que sur du </a:t>
            </a:r>
            <a:r>
              <a:rPr lang="en-US" sz="1550" dirty="0" err="1">
                <a:solidFill>
                  <a:srgbClr val="FFFFFF"/>
                </a:solidFill>
                <a:latin typeface="Source Sans 3" pitchFamily="34" charset="0"/>
                <a:ea typeface="Source Sans 3" pitchFamily="34" charset="-122"/>
                <a:cs typeface="Source Sans 3" pitchFamily="34" charset="-120"/>
              </a:rPr>
              <a:t>developpement</a:t>
            </a:r>
            <a:r>
              <a:rPr lang="en-US" sz="1550" dirty="0">
                <a:solidFill>
                  <a:srgbClr val="FFFFFF"/>
                </a:solidFill>
                <a:latin typeface="Source Sans 3" pitchFamily="34" charset="0"/>
                <a:ea typeface="Source Sans 3" pitchFamily="34" charset="-122"/>
                <a:cs typeface="Source Sans 3" pitchFamily="34" charset="-120"/>
              </a:rPr>
              <a:t> </a:t>
            </a:r>
            <a:r>
              <a:rPr lang="en-US" sz="1550" dirty="0" err="1">
                <a:solidFill>
                  <a:srgbClr val="FFFFFF"/>
                </a:solidFill>
                <a:latin typeface="Source Sans 3" pitchFamily="34" charset="0"/>
                <a:ea typeface="Source Sans 3" pitchFamily="34" charset="-122"/>
                <a:cs typeface="Source Sans 3" pitchFamily="34" charset="-120"/>
              </a:rPr>
              <a:t>applicatif</a:t>
            </a:r>
            <a:r>
              <a:rPr lang="en-US" sz="1550" dirty="0">
                <a:solidFill>
                  <a:srgbClr val="FFFFFF"/>
                </a:solidFill>
                <a:latin typeface="Source Sans 3" pitchFamily="34" charset="0"/>
                <a:ea typeface="Source Sans 3" pitchFamily="34" charset="-122"/>
                <a:cs typeface="Source Sans 3" pitchFamily="34" charset="-120"/>
              </a:rPr>
              <a:t>.</a:t>
            </a:r>
            <a:endParaRPr lang="en-US" sz="1550" dirty="0"/>
          </a:p>
        </p:txBody>
      </p:sp>
      <p:sp>
        <p:nvSpPr>
          <p:cNvPr id="7" name="Text 5"/>
          <p:cNvSpPr/>
          <p:nvPr/>
        </p:nvSpPr>
        <p:spPr>
          <a:xfrm>
            <a:off x="849273" y="4988004"/>
            <a:ext cx="6168390" cy="127015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Source Sans 3" pitchFamily="34" charset="0"/>
                <a:ea typeface="Source Sans 3" pitchFamily="34" charset="-122"/>
                <a:cs typeface="Source Sans 3" pitchFamily="34" charset="-120"/>
              </a:rPr>
              <a:t>L'idée est née d'une observation du quotidien : </a:t>
            </a:r>
            <a:r>
              <a:rPr lang="en-US" sz="1550" dirty="0" err="1">
                <a:solidFill>
                  <a:srgbClr val="FFFFFF"/>
                </a:solidFill>
                <a:latin typeface="Source Sans 3" pitchFamily="34" charset="0"/>
                <a:ea typeface="Source Sans 3" pitchFamily="34" charset="-122"/>
                <a:cs typeface="Source Sans 3" pitchFamily="34" charset="-120"/>
              </a:rPr>
              <a:t>mon</a:t>
            </a:r>
            <a:r>
              <a:rPr lang="en-US" sz="1550" dirty="0">
                <a:solidFill>
                  <a:srgbClr val="FFFFFF"/>
                </a:solidFill>
                <a:latin typeface="Source Sans 3" pitchFamily="34" charset="0"/>
                <a:ea typeface="Source Sans 3" pitchFamily="34" charset="-122"/>
                <a:cs typeface="Source Sans 3" pitchFamily="34" charset="-120"/>
              </a:rPr>
              <a:t> entourage ne sait généralement pas quoi manger, et encore moins quoi acheter au supermarché. Un problème simple, une solution simple, un terrain d'expérimentation idéal.</a:t>
            </a:r>
            <a:endParaRPr lang="en-US" sz="1550" dirty="0"/>
          </a:p>
        </p:txBody>
      </p:sp>
      <p:sp>
        <p:nvSpPr>
          <p:cNvPr id="8" name="Text 6"/>
          <p:cNvSpPr/>
          <p:nvPr/>
        </p:nvSpPr>
        <p:spPr>
          <a:xfrm>
            <a:off x="7564874" y="3030736"/>
            <a:ext cx="3564136" cy="310158"/>
          </a:xfrm>
          <a:prstGeom prst="rect">
            <a:avLst/>
          </a:prstGeom>
          <a:noFill/>
          <a:ln/>
        </p:spPr>
        <p:txBody>
          <a:bodyPr wrap="none" lIns="0" tIns="0" rIns="0" bIns="0" rtlCol="0" anchor="t"/>
          <a:lstStyle/>
          <a:p>
            <a:pPr marL="0" indent="0" algn="l">
              <a:lnSpc>
                <a:spcPts val="2400"/>
              </a:lnSpc>
              <a:buNone/>
            </a:pPr>
            <a:r>
              <a:rPr lang="en-US" sz="1950" dirty="0">
                <a:solidFill>
                  <a:srgbClr val="124E73"/>
                </a:solidFill>
                <a:latin typeface="MuseoModerno Medium" pitchFamily="34" charset="0"/>
                <a:ea typeface="MuseoModerno Medium" pitchFamily="34" charset="-122"/>
                <a:cs typeface="MuseoModerno Medium" pitchFamily="34" charset="-120"/>
              </a:rPr>
              <a:t>Contexte &amp; Titre Professionnel</a:t>
            </a:r>
            <a:endParaRPr lang="en-US" sz="1950" dirty="0"/>
          </a:p>
        </p:txBody>
      </p:sp>
      <p:sp>
        <p:nvSpPr>
          <p:cNvPr id="9" name="Text 7"/>
          <p:cNvSpPr/>
          <p:nvPr/>
        </p:nvSpPr>
        <p:spPr>
          <a:xfrm>
            <a:off x="7564874" y="3539252"/>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Ce projet s'inscrit dans le cadre du titre professionnel d'</a:t>
            </a:r>
            <a:r>
              <a:rPr lang="en-US" sz="1550" b="1" dirty="0">
                <a:solidFill>
                  <a:srgbClr val="2B4150"/>
                </a:solidFill>
                <a:latin typeface="Source Sans 3" pitchFamily="34" charset="0"/>
                <a:ea typeface="Source Sans 3" pitchFamily="34" charset="-122"/>
                <a:cs typeface="Source Sans 3" pitchFamily="34" charset="-120"/>
              </a:rPr>
              <a:t>Administrateur Systèmes DevOps</a:t>
            </a:r>
            <a:r>
              <a:rPr lang="en-US" sz="1550" dirty="0">
                <a:solidFill>
                  <a:srgbClr val="2B4150"/>
                </a:solidFill>
                <a:latin typeface="Source Sans 3" pitchFamily="34" charset="0"/>
                <a:ea typeface="Source Sans 3" pitchFamily="34" charset="-122"/>
                <a:cs typeface="Source Sans 3" pitchFamily="34" charset="-120"/>
              </a:rPr>
              <a:t>. L'application a volontairement été choisie comme support évolutif afin de démontrer les compétences acquises à chaque étape, sans que la complexité applicative ne devienne un frein.</a:t>
            </a:r>
            <a:endParaRPr lang="en-US" sz="1550" dirty="0"/>
          </a:p>
        </p:txBody>
      </p:sp>
      <p:sp>
        <p:nvSpPr>
          <p:cNvPr id="10" name="Text 8"/>
          <p:cNvSpPr/>
          <p:nvPr/>
        </p:nvSpPr>
        <p:spPr>
          <a:xfrm>
            <a:off x="7564874" y="4988004"/>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Pour </a:t>
            </a:r>
            <a:r>
              <a:rPr lang="en-US" sz="1550" dirty="0" err="1">
                <a:solidFill>
                  <a:srgbClr val="2B4150"/>
                </a:solidFill>
                <a:latin typeface="Source Sans 3" pitchFamily="34" charset="0"/>
                <a:ea typeface="Source Sans 3" pitchFamily="34" charset="-122"/>
                <a:cs typeface="Source Sans 3" pitchFamily="34" charset="-120"/>
              </a:rPr>
              <a:t>moi</a:t>
            </a:r>
            <a:r>
              <a:rPr lang="en-US" sz="1550" dirty="0">
                <a:solidFill>
                  <a:srgbClr val="2B4150"/>
                </a:solidFill>
                <a:latin typeface="Source Sans 3" pitchFamily="34" charset="0"/>
                <a:ea typeface="Source Sans 3" pitchFamily="34" charset="-122"/>
                <a:cs typeface="Source Sans 3" pitchFamily="34" charset="-120"/>
              </a:rPr>
              <a:t>, issu des forces armées où le code se limitait essentiellement à des scripts PowerShell et Bash, ce projet représente aussi un retour progressif et personnel dans le monde du développement logiciel — avec Python comme terrain d'exploration.</a:t>
            </a:r>
            <a:endParaRPr lang="en-US" sz="1550" dirty="0"/>
          </a:p>
        </p:txBody>
      </p:sp>
      <p:sp>
        <p:nvSpPr>
          <p:cNvPr id="11" name="Text 9"/>
          <p:cNvSpPr/>
          <p:nvPr/>
        </p:nvSpPr>
        <p:spPr>
          <a:xfrm>
            <a:off x="7564874" y="6436757"/>
            <a:ext cx="6279356" cy="109144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Application Flask exposée via Nginx</a:t>
            </a:r>
            <a:endParaRPr lang="en-US" sz="1550" dirty="0"/>
          </a:p>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Conteneurisée avec Docker</a:t>
            </a:r>
            <a:endParaRPr lang="en-US" sz="1550" dirty="0"/>
          </a:p>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Hébergée sur GCP via Terraform + Ansible</a:t>
            </a:r>
            <a:endParaRPr lang="en-US" sz="1550" dirty="0"/>
          </a:p>
        </p:txBody>
      </p:sp>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sp>
        <p:nvSpPr>
          <p:cNvPr id="12" name="Text 0">
            <a:extLst>
              <a:ext uri="{FF2B5EF4-FFF2-40B4-BE49-F238E27FC236}">
                <a16:creationId xmlns:a16="http://schemas.microsoft.com/office/drawing/2014/main" id="{AACB6795-F0AD-D07B-A600-FF8B183072D5}"/>
              </a:ext>
            </a:extLst>
          </p:cNvPr>
          <p:cNvSpPr/>
          <p:nvPr/>
        </p:nvSpPr>
        <p:spPr>
          <a:xfrm>
            <a:off x="793790" y="631984"/>
            <a:ext cx="7914084" cy="627698"/>
          </a:xfrm>
          <a:prstGeom prst="rect">
            <a:avLst/>
          </a:prstGeom>
          <a:noFill/>
          <a:ln/>
        </p:spPr>
        <p:txBody>
          <a:bodyPr wrap="none" lIns="0" tIns="0" rIns="0" bIns="0" rtlCol="0" anchor="t"/>
          <a:lstStyle/>
          <a:p>
            <a:pPr marL="0" indent="0" algn="l">
              <a:lnSpc>
                <a:spcPts val="4850"/>
              </a:lnSpc>
              <a:buNone/>
            </a:pPr>
            <a:r>
              <a:rPr lang="en-US" sz="3900" dirty="0">
                <a:solidFill>
                  <a:srgbClr val="124E73"/>
                </a:solidFill>
                <a:latin typeface="MuseoModerno Medium" pitchFamily="34" charset="0"/>
              </a:rPr>
              <a:t>Application Flask .</a:t>
            </a:r>
            <a:r>
              <a:rPr lang="en-US" sz="3900" dirty="0" err="1">
                <a:solidFill>
                  <a:srgbClr val="124E73"/>
                </a:solidFill>
                <a:latin typeface="MuseoModerno Medium" pitchFamily="34" charset="0"/>
              </a:rPr>
              <a:t>py</a:t>
            </a:r>
            <a:r>
              <a:rPr lang="en-US" sz="3900" dirty="0">
                <a:solidFill>
                  <a:srgbClr val="124E73"/>
                </a:solidFill>
                <a:latin typeface="MuseoModerno Medium" pitchFamily="34" charset="0"/>
              </a:rPr>
              <a:t> exposé avec nginx</a:t>
            </a:r>
          </a:p>
        </p:txBody>
      </p:sp>
      <p:pic>
        <p:nvPicPr>
          <p:cNvPr id="19" name="Image 18">
            <a:extLst>
              <a:ext uri="{FF2B5EF4-FFF2-40B4-BE49-F238E27FC236}">
                <a16:creationId xmlns:a16="http://schemas.microsoft.com/office/drawing/2014/main" id="{82B5C9F0-ED3A-1621-832B-B4972E5F9E52}"/>
              </a:ext>
            </a:extLst>
          </p:cNvPr>
          <p:cNvPicPr>
            <a:picLocks noChangeAspect="1"/>
          </p:cNvPicPr>
          <p:nvPr/>
        </p:nvPicPr>
        <p:blipFill>
          <a:blip r:embed="rId4"/>
          <a:stretch>
            <a:fillRect/>
          </a:stretch>
        </p:blipFill>
        <p:spPr>
          <a:xfrm>
            <a:off x="295617" y="1485777"/>
            <a:ext cx="3727942" cy="3235262"/>
          </a:xfrm>
          <a:prstGeom prst="roundRect">
            <a:avLst>
              <a:gd name="adj" fmla="val 8594"/>
            </a:avLst>
          </a:prstGeom>
          <a:solidFill>
            <a:srgbClr val="FFFFFF">
              <a:shade val="85000"/>
            </a:srgbClr>
          </a:solidFill>
          <a:ln>
            <a:noFill/>
          </a:ln>
          <a:effectLst>
            <a:reflection blurRad="12700" stA="0" endPos="0" dist="5000" dir="5400000" sy="-100000" algn="bl" rotWithShape="0"/>
            <a:softEdge rad="0"/>
          </a:effectLst>
        </p:spPr>
      </p:pic>
      <p:pic>
        <p:nvPicPr>
          <p:cNvPr id="21" name="Image 20">
            <a:extLst>
              <a:ext uri="{FF2B5EF4-FFF2-40B4-BE49-F238E27FC236}">
                <a16:creationId xmlns:a16="http://schemas.microsoft.com/office/drawing/2014/main" id="{3EAF626C-DC18-0ED5-3675-E17C785AF61A}"/>
              </a:ext>
            </a:extLst>
          </p:cNvPr>
          <p:cNvPicPr>
            <a:picLocks noChangeAspect="1"/>
          </p:cNvPicPr>
          <p:nvPr/>
        </p:nvPicPr>
        <p:blipFill>
          <a:blip r:embed="rId5"/>
          <a:stretch>
            <a:fillRect/>
          </a:stretch>
        </p:blipFill>
        <p:spPr>
          <a:xfrm>
            <a:off x="295617" y="5025669"/>
            <a:ext cx="3727943" cy="366137"/>
          </a:xfrm>
          <a:prstGeom prst="roundRect">
            <a:avLst>
              <a:gd name="adj" fmla="val 8594"/>
            </a:avLst>
          </a:prstGeom>
          <a:solidFill>
            <a:srgbClr val="FFFFFF">
              <a:shade val="85000"/>
            </a:srgbClr>
          </a:solidFill>
          <a:ln>
            <a:noFill/>
          </a:ln>
          <a:effectLst/>
        </p:spPr>
      </p:pic>
      <p:sp>
        <p:nvSpPr>
          <p:cNvPr id="22" name="Text 0">
            <a:extLst>
              <a:ext uri="{FF2B5EF4-FFF2-40B4-BE49-F238E27FC236}">
                <a16:creationId xmlns:a16="http://schemas.microsoft.com/office/drawing/2014/main" id="{62FA8FEC-69E6-A399-69C3-D5238D34AFA3}"/>
              </a:ext>
            </a:extLst>
          </p:cNvPr>
          <p:cNvSpPr/>
          <p:nvPr/>
        </p:nvSpPr>
        <p:spPr>
          <a:xfrm>
            <a:off x="4593279" y="1534267"/>
            <a:ext cx="7914084" cy="627698"/>
          </a:xfrm>
          <a:prstGeom prst="rect">
            <a:avLst/>
          </a:prstGeom>
          <a:noFill/>
          <a:ln/>
        </p:spPr>
        <p:txBody>
          <a:bodyPr wrap="none" lIns="0" tIns="0" rIns="0" bIns="0" rtlCol="0" anchor="t"/>
          <a:lstStyle/>
          <a:p>
            <a:pPr marL="0" indent="0" algn="l">
              <a:lnSpc>
                <a:spcPts val="4850"/>
              </a:lnSpc>
              <a:buNone/>
            </a:pPr>
            <a:r>
              <a:rPr lang="en-US" b="1" dirty="0">
                <a:solidFill>
                  <a:srgbClr val="124E73"/>
                </a:solidFill>
                <a:latin typeface="MuseoModerno Medium" pitchFamily="34" charset="0"/>
              </a:rPr>
              <a:t>Nginx agit </a:t>
            </a:r>
            <a:r>
              <a:rPr lang="en-US" b="1" dirty="0" err="1">
                <a:solidFill>
                  <a:srgbClr val="124E73"/>
                </a:solidFill>
                <a:latin typeface="MuseoModerno Medium" pitchFamily="34" charset="0"/>
              </a:rPr>
              <a:t>comme</a:t>
            </a:r>
            <a:r>
              <a:rPr lang="en-US" b="1" dirty="0">
                <a:solidFill>
                  <a:srgbClr val="124E73"/>
                </a:solidFill>
                <a:latin typeface="MuseoModerno Medium" pitchFamily="34" charset="0"/>
              </a:rPr>
              <a:t> un reverse proxy qui </a:t>
            </a:r>
            <a:r>
              <a:rPr lang="en-US" b="1" dirty="0" err="1">
                <a:solidFill>
                  <a:srgbClr val="124E73"/>
                </a:solidFill>
                <a:latin typeface="MuseoModerno Medium" pitchFamily="34" charset="0"/>
              </a:rPr>
              <a:t>écoute</a:t>
            </a:r>
            <a:r>
              <a:rPr lang="en-US" b="1" dirty="0">
                <a:solidFill>
                  <a:srgbClr val="124E73"/>
                </a:solidFill>
                <a:latin typeface="MuseoModerno Medium" pitchFamily="34" charset="0"/>
              </a:rPr>
              <a:t> le port 80 et 443 pour </a:t>
            </a:r>
          </a:p>
          <a:p>
            <a:pPr marL="0" indent="0" algn="l">
              <a:lnSpc>
                <a:spcPts val="4850"/>
              </a:lnSpc>
              <a:buNone/>
            </a:pPr>
            <a:r>
              <a:rPr lang="en-US" b="1" dirty="0" err="1">
                <a:solidFill>
                  <a:srgbClr val="124E73"/>
                </a:solidFill>
                <a:latin typeface="MuseoModerno Medium" pitchFamily="34" charset="0"/>
              </a:rPr>
              <a:t>renvoyer</a:t>
            </a:r>
            <a:r>
              <a:rPr lang="en-US" b="1" dirty="0">
                <a:solidFill>
                  <a:srgbClr val="124E73"/>
                </a:solidFill>
                <a:latin typeface="MuseoModerno Medium" pitchFamily="34" charset="0"/>
              </a:rPr>
              <a:t> sur </a:t>
            </a:r>
            <a:r>
              <a:rPr lang="en-US" b="1" dirty="0" err="1">
                <a:solidFill>
                  <a:srgbClr val="124E73"/>
                </a:solidFill>
                <a:latin typeface="MuseoModerno Medium" pitchFamily="34" charset="0"/>
              </a:rPr>
              <a:t>l’application</a:t>
            </a:r>
            <a:r>
              <a:rPr lang="en-US" b="1" dirty="0">
                <a:solidFill>
                  <a:srgbClr val="124E73"/>
                </a:solidFill>
                <a:latin typeface="MuseoModerno Medium" pitchFamily="34" charset="0"/>
              </a:rPr>
              <a:t> qui expose le port 8000. </a:t>
            </a:r>
          </a:p>
          <a:p>
            <a:pPr marL="0" indent="0" algn="l">
              <a:lnSpc>
                <a:spcPts val="4850"/>
              </a:lnSpc>
              <a:buNone/>
            </a:pPr>
            <a:r>
              <a:rPr lang="en-US" b="1" dirty="0">
                <a:solidFill>
                  <a:srgbClr val="124E73"/>
                </a:solidFill>
                <a:latin typeface="MuseoModerno Medium" pitchFamily="34" charset="0"/>
              </a:rPr>
              <a:t>Le </a:t>
            </a:r>
            <a:r>
              <a:rPr lang="en-US" b="1" dirty="0" err="1">
                <a:solidFill>
                  <a:srgbClr val="124E73"/>
                </a:solidFill>
                <a:latin typeface="MuseoModerno Medium" pitchFamily="34" charset="0"/>
              </a:rPr>
              <a:t>fichier</a:t>
            </a:r>
            <a:r>
              <a:rPr lang="en-US" b="1" dirty="0">
                <a:solidFill>
                  <a:srgbClr val="124E73"/>
                </a:solidFill>
                <a:latin typeface="MuseoModerno Medium" pitchFamily="34" charset="0"/>
              </a:rPr>
              <a:t> </a:t>
            </a:r>
            <a:r>
              <a:rPr lang="en-US" b="1" dirty="0" err="1">
                <a:solidFill>
                  <a:srgbClr val="124E73"/>
                </a:solidFill>
                <a:latin typeface="MuseoModerno Medium" pitchFamily="34" charset="0"/>
              </a:rPr>
              <a:t>Nginx.conf</a:t>
            </a:r>
            <a:r>
              <a:rPr lang="en-US" b="1" dirty="0">
                <a:solidFill>
                  <a:srgbClr val="124E73"/>
                </a:solidFill>
                <a:latin typeface="MuseoModerno Medium" pitchFamily="34" charset="0"/>
              </a:rPr>
              <a:t> </a:t>
            </a:r>
            <a:r>
              <a:rPr lang="en-US" b="1" dirty="0" err="1">
                <a:solidFill>
                  <a:srgbClr val="124E73"/>
                </a:solidFill>
                <a:latin typeface="MuseoModerno Medium" pitchFamily="34" charset="0"/>
              </a:rPr>
              <a:t>est</a:t>
            </a:r>
            <a:r>
              <a:rPr lang="en-US" b="1" dirty="0">
                <a:solidFill>
                  <a:srgbClr val="124E73"/>
                </a:solidFill>
                <a:latin typeface="MuseoModerno Medium" pitchFamily="34" charset="0"/>
              </a:rPr>
              <a:t> </a:t>
            </a:r>
            <a:r>
              <a:rPr lang="en-US" b="1" dirty="0" err="1">
                <a:solidFill>
                  <a:srgbClr val="124E73"/>
                </a:solidFill>
                <a:latin typeface="MuseoModerno Medium" pitchFamily="34" charset="0"/>
              </a:rPr>
              <a:t>allimenté</a:t>
            </a:r>
            <a:r>
              <a:rPr lang="en-US" b="1" dirty="0">
                <a:solidFill>
                  <a:srgbClr val="124E73"/>
                </a:solidFill>
                <a:latin typeface="MuseoModerno Medium" pitchFamily="34" charset="0"/>
              </a:rPr>
              <a:t> par des </a:t>
            </a:r>
            <a:r>
              <a:rPr lang="en-US" b="1" dirty="0" err="1">
                <a:solidFill>
                  <a:srgbClr val="124E73"/>
                </a:solidFill>
                <a:latin typeface="MuseoModerno Medium" pitchFamily="34" charset="0"/>
              </a:rPr>
              <a:t>certificats</a:t>
            </a:r>
            <a:r>
              <a:rPr lang="en-US" b="1" dirty="0">
                <a:solidFill>
                  <a:srgbClr val="124E73"/>
                </a:solidFill>
                <a:latin typeface="MuseoModerno Medium" pitchFamily="34" charset="0"/>
              </a:rPr>
              <a:t> </a:t>
            </a:r>
            <a:r>
              <a:rPr lang="en-US" b="1" dirty="0" err="1">
                <a:solidFill>
                  <a:srgbClr val="124E73"/>
                </a:solidFill>
                <a:latin typeface="MuseoModerno Medium" pitchFamily="34" charset="0"/>
              </a:rPr>
              <a:t>ssl</a:t>
            </a:r>
            <a:r>
              <a:rPr lang="en-US" b="1" dirty="0">
                <a:solidFill>
                  <a:srgbClr val="124E73"/>
                </a:solidFill>
                <a:latin typeface="MuseoModerno Medium" pitchFamily="34" charset="0"/>
              </a:rPr>
              <a:t> </a:t>
            </a:r>
            <a:r>
              <a:rPr lang="en-US" b="1" dirty="0" err="1">
                <a:solidFill>
                  <a:srgbClr val="124E73"/>
                </a:solidFill>
                <a:latin typeface="MuseoModerno Medium" pitchFamily="34" charset="0"/>
              </a:rPr>
              <a:t>letsencrypt</a:t>
            </a:r>
            <a:endParaRPr lang="en-US" b="1" dirty="0">
              <a:solidFill>
                <a:srgbClr val="124E73"/>
              </a:solidFill>
              <a:latin typeface="MuseoModerno Medium" pitchFamily="34" charset="0"/>
            </a:endParaRPr>
          </a:p>
        </p:txBody>
      </p:sp>
      <p:pic>
        <p:nvPicPr>
          <p:cNvPr id="24" name="Image 23">
            <a:extLst>
              <a:ext uri="{FF2B5EF4-FFF2-40B4-BE49-F238E27FC236}">
                <a16:creationId xmlns:a16="http://schemas.microsoft.com/office/drawing/2014/main" id="{205F992D-79A0-143E-81C9-D9A215CAE357}"/>
              </a:ext>
            </a:extLst>
          </p:cNvPr>
          <p:cNvPicPr>
            <a:picLocks noChangeAspect="1"/>
          </p:cNvPicPr>
          <p:nvPr/>
        </p:nvPicPr>
        <p:blipFill>
          <a:blip r:embed="rId6"/>
          <a:stretch>
            <a:fillRect/>
          </a:stretch>
        </p:blipFill>
        <p:spPr>
          <a:xfrm>
            <a:off x="4666851" y="3691946"/>
            <a:ext cx="7298818" cy="627698"/>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
        <p:nvSpPr>
          <p:cNvPr id="2" name="Text 0">
            <a:extLst>
              <a:ext uri="{FF2B5EF4-FFF2-40B4-BE49-F238E27FC236}">
                <a16:creationId xmlns:a16="http://schemas.microsoft.com/office/drawing/2014/main" id="{44E41069-BE52-52CD-777B-665C466FFB27}"/>
              </a:ext>
            </a:extLst>
          </p:cNvPr>
          <p:cNvSpPr/>
          <p:nvPr/>
        </p:nvSpPr>
        <p:spPr>
          <a:xfrm>
            <a:off x="4593279" y="4502113"/>
            <a:ext cx="7914084" cy="627698"/>
          </a:xfrm>
          <a:prstGeom prst="rect">
            <a:avLst/>
          </a:prstGeom>
          <a:noFill/>
          <a:ln/>
        </p:spPr>
        <p:txBody>
          <a:bodyPr wrap="none" lIns="0" tIns="0" rIns="0" bIns="0" rtlCol="0" anchor="t"/>
          <a:lstStyle/>
          <a:p>
            <a:pPr marL="0" indent="0" algn="l">
              <a:lnSpc>
                <a:spcPts val="4850"/>
              </a:lnSpc>
              <a:buNone/>
            </a:pPr>
            <a:r>
              <a:rPr lang="en-US" b="1" dirty="0">
                <a:solidFill>
                  <a:srgbClr val="124E73"/>
                </a:solidFill>
                <a:latin typeface="MuseoModerno Medium" pitchFamily="34" charset="0"/>
              </a:rPr>
              <a:t>GET affiche les plats </a:t>
            </a:r>
            <a:r>
              <a:rPr lang="en-US" b="1" dirty="0" err="1">
                <a:solidFill>
                  <a:srgbClr val="124E73"/>
                </a:solidFill>
                <a:latin typeface="MuseoModerno Medium" pitchFamily="34" charset="0"/>
              </a:rPr>
              <a:t>depuis</a:t>
            </a:r>
            <a:r>
              <a:rPr lang="en-US" b="1" dirty="0">
                <a:solidFill>
                  <a:srgbClr val="124E73"/>
                </a:solidFill>
                <a:latin typeface="MuseoModerno Medium" pitchFamily="34" charset="0"/>
              </a:rPr>
              <a:t> database.py via SQLite</a:t>
            </a:r>
          </a:p>
          <a:p>
            <a:pPr marL="0" indent="0" algn="l">
              <a:lnSpc>
                <a:spcPts val="4850"/>
              </a:lnSpc>
              <a:buNone/>
            </a:pPr>
            <a:r>
              <a:rPr lang="en-US" b="1" dirty="0">
                <a:solidFill>
                  <a:srgbClr val="124E73"/>
                </a:solidFill>
                <a:latin typeface="MuseoModerno Medium" pitchFamily="34" charset="0"/>
              </a:rPr>
              <a:t>POST </a:t>
            </a:r>
            <a:r>
              <a:rPr lang="en-US" b="1" dirty="0" err="1">
                <a:solidFill>
                  <a:srgbClr val="124E73"/>
                </a:solidFill>
                <a:latin typeface="MuseoModerno Medium" pitchFamily="34" charset="0"/>
              </a:rPr>
              <a:t>recoit</a:t>
            </a:r>
            <a:r>
              <a:rPr lang="en-US" b="1" dirty="0">
                <a:solidFill>
                  <a:srgbClr val="124E73"/>
                </a:solidFill>
                <a:latin typeface="MuseoModerno Medium" pitchFamily="34" charset="0"/>
              </a:rPr>
              <a:t> les plats </a:t>
            </a:r>
            <a:r>
              <a:rPr lang="en-US" b="1" dirty="0" err="1">
                <a:solidFill>
                  <a:srgbClr val="124E73"/>
                </a:solidFill>
                <a:latin typeface="MuseoModerno Medium" pitchFamily="34" charset="0"/>
              </a:rPr>
              <a:t>effectue</a:t>
            </a:r>
            <a:r>
              <a:rPr lang="en-US" b="1" dirty="0">
                <a:solidFill>
                  <a:srgbClr val="124E73"/>
                </a:solidFill>
                <a:latin typeface="MuseoModerno Medium" pitchFamily="34" charset="0"/>
              </a:rPr>
              <a:t> les </a:t>
            </a:r>
            <a:r>
              <a:rPr lang="en-US" b="1" dirty="0" err="1">
                <a:solidFill>
                  <a:srgbClr val="124E73"/>
                </a:solidFill>
                <a:latin typeface="MuseoModerno Medium" pitchFamily="34" charset="0"/>
              </a:rPr>
              <a:t>calculs</a:t>
            </a:r>
            <a:r>
              <a:rPr lang="en-US" b="1" dirty="0">
                <a:solidFill>
                  <a:srgbClr val="124E73"/>
                </a:solidFill>
                <a:latin typeface="MuseoModerno Medium" pitchFamily="34" charset="0"/>
              </a:rPr>
              <a:t> et </a:t>
            </a:r>
            <a:r>
              <a:rPr lang="en-US" b="1" dirty="0" err="1">
                <a:solidFill>
                  <a:srgbClr val="124E73"/>
                </a:solidFill>
                <a:latin typeface="MuseoModerno Medium" pitchFamily="34" charset="0"/>
              </a:rPr>
              <a:t>retourne</a:t>
            </a:r>
            <a:r>
              <a:rPr lang="en-US" b="1" dirty="0">
                <a:solidFill>
                  <a:srgbClr val="124E73"/>
                </a:solidFill>
                <a:latin typeface="MuseoModerno Medium" pitchFamily="34" charset="0"/>
              </a:rPr>
              <a:t> un </a:t>
            </a:r>
            <a:r>
              <a:rPr lang="en-US" b="1" dirty="0" err="1">
                <a:solidFill>
                  <a:srgbClr val="124E73"/>
                </a:solidFill>
                <a:latin typeface="MuseoModerno Medium" pitchFamily="34" charset="0"/>
              </a:rPr>
              <a:t>resultat</a:t>
            </a:r>
            <a:endParaRPr lang="en-US" b="1" dirty="0">
              <a:solidFill>
                <a:srgbClr val="124E73"/>
              </a:solidFill>
              <a:latin typeface="MuseoModerno Medium" pitchFamily="34" charset="0"/>
            </a:endParaRPr>
          </a:p>
        </p:txBody>
      </p:sp>
      <p:sp>
        <p:nvSpPr>
          <p:cNvPr id="3" name="Text 0">
            <a:extLst>
              <a:ext uri="{FF2B5EF4-FFF2-40B4-BE49-F238E27FC236}">
                <a16:creationId xmlns:a16="http://schemas.microsoft.com/office/drawing/2014/main" id="{ABD4D368-2A2B-B200-3187-9326E35E0610}"/>
              </a:ext>
            </a:extLst>
          </p:cNvPr>
          <p:cNvSpPr/>
          <p:nvPr/>
        </p:nvSpPr>
        <p:spPr>
          <a:xfrm>
            <a:off x="295617" y="5696436"/>
            <a:ext cx="7914084" cy="627698"/>
          </a:xfrm>
          <a:prstGeom prst="rect">
            <a:avLst/>
          </a:prstGeom>
          <a:noFill/>
          <a:ln/>
        </p:spPr>
        <p:txBody>
          <a:bodyPr wrap="none" lIns="0" tIns="0" rIns="0" bIns="0" rtlCol="0" anchor="t"/>
          <a:lstStyle/>
          <a:p>
            <a:pPr marL="0" indent="0" algn="l">
              <a:lnSpc>
                <a:spcPts val="4850"/>
              </a:lnSpc>
              <a:buNone/>
            </a:pPr>
            <a:r>
              <a:rPr lang="en-US" dirty="0">
                <a:solidFill>
                  <a:srgbClr val="124E73"/>
                </a:solidFill>
                <a:latin typeface="MuseoModerno Medium" pitchFamily="34" charset="0"/>
              </a:rPr>
              <a:t>(</a:t>
            </a:r>
            <a:r>
              <a:rPr lang="en-US" dirty="0" err="1">
                <a:solidFill>
                  <a:srgbClr val="124E73"/>
                </a:solidFill>
                <a:latin typeface="MuseoModerno Medium" pitchFamily="34" charset="0"/>
              </a:rPr>
              <a:t>en</a:t>
            </a:r>
            <a:r>
              <a:rPr lang="en-US" dirty="0">
                <a:solidFill>
                  <a:srgbClr val="124E73"/>
                </a:solidFill>
                <a:latin typeface="MuseoModerno Medium" pitchFamily="34" charset="0"/>
              </a:rPr>
              <a:t> function de la </a:t>
            </a:r>
            <a:r>
              <a:rPr lang="en-US" dirty="0" err="1">
                <a:solidFill>
                  <a:srgbClr val="124E73"/>
                </a:solidFill>
                <a:latin typeface="MuseoModerno Medium" pitchFamily="34" charset="0"/>
              </a:rPr>
              <a:t>branche</a:t>
            </a:r>
            <a:r>
              <a:rPr lang="en-US" dirty="0">
                <a:solidFill>
                  <a:srgbClr val="124E73"/>
                </a:solidFill>
                <a:latin typeface="MuseoModerno Medium" pitchFamily="34" charset="0"/>
              </a:rPr>
              <a:t>) 	- Docker build –t </a:t>
            </a:r>
            <a:r>
              <a:rPr lang="en-US" dirty="0" err="1">
                <a:solidFill>
                  <a:srgbClr val="124E73"/>
                </a:solidFill>
                <a:latin typeface="MuseoModerno Medium" pitchFamily="34" charset="0"/>
              </a:rPr>
              <a:t>pasta-web:local</a:t>
            </a:r>
            <a:endParaRPr lang="en-US" dirty="0">
              <a:solidFill>
                <a:srgbClr val="124E73"/>
              </a:solidFill>
              <a:latin typeface="MuseoModerno Medium" pitchFamily="34" charset="0"/>
            </a:endParaRPr>
          </a:p>
          <a:p>
            <a:pPr marL="0" indent="0" algn="l">
              <a:lnSpc>
                <a:spcPts val="4850"/>
              </a:lnSpc>
              <a:buNone/>
            </a:pPr>
            <a:r>
              <a:rPr lang="en-US" dirty="0">
                <a:solidFill>
                  <a:srgbClr val="124E73"/>
                </a:solidFill>
                <a:latin typeface="MuseoModerno Medium" pitchFamily="34" charset="0"/>
              </a:rPr>
              <a:t>				- Docker run –rm –p 8000:8000 </a:t>
            </a:r>
            <a:r>
              <a:rPr lang="en-US" dirty="0" err="1">
                <a:solidFill>
                  <a:srgbClr val="124E73"/>
                </a:solidFill>
                <a:latin typeface="MuseoModerno Medium" pitchFamily="34" charset="0"/>
              </a:rPr>
              <a:t>pasta-web:local</a:t>
            </a:r>
            <a:endParaRPr lang="en-US" dirty="0">
              <a:solidFill>
                <a:srgbClr val="124E73"/>
              </a:solidFill>
              <a:latin typeface="MuseoModerno Medium" pitchFamily="34" charset="0"/>
            </a:endParaRPr>
          </a:p>
          <a:p>
            <a:pPr marL="0" indent="0" algn="l">
              <a:lnSpc>
                <a:spcPts val="4850"/>
              </a:lnSpc>
              <a:buNone/>
            </a:pPr>
            <a:r>
              <a:rPr lang="en-US" dirty="0">
                <a:solidFill>
                  <a:srgbClr val="124E73"/>
                </a:solidFill>
                <a:latin typeface="MuseoModerno Medium" pitchFamily="34" charset="0"/>
              </a:rPr>
              <a:t>				- http://127.0.0.1:8000 / http://localhost</a:t>
            </a:r>
          </a:p>
        </p:txBody>
      </p:sp>
    </p:spTree>
    <p:extLst>
      <p:ext uri="{BB962C8B-B14F-4D97-AF65-F5344CB8AC3E}">
        <p14:creationId xmlns:p14="http://schemas.microsoft.com/office/powerpoint/2010/main" val="2103419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sp>
        <p:nvSpPr>
          <p:cNvPr id="12" name="Text 0">
            <a:extLst>
              <a:ext uri="{FF2B5EF4-FFF2-40B4-BE49-F238E27FC236}">
                <a16:creationId xmlns:a16="http://schemas.microsoft.com/office/drawing/2014/main" id="{AACB6795-F0AD-D07B-A600-FF8B183072D5}"/>
              </a:ext>
            </a:extLst>
          </p:cNvPr>
          <p:cNvSpPr/>
          <p:nvPr/>
        </p:nvSpPr>
        <p:spPr>
          <a:xfrm>
            <a:off x="793790" y="631984"/>
            <a:ext cx="7914084" cy="627698"/>
          </a:xfrm>
          <a:prstGeom prst="rect">
            <a:avLst/>
          </a:prstGeom>
          <a:noFill/>
          <a:ln/>
        </p:spPr>
        <p:txBody>
          <a:bodyPr wrap="none" lIns="0" tIns="0" rIns="0" bIns="0" rtlCol="0" anchor="t"/>
          <a:lstStyle/>
          <a:p>
            <a:pPr marL="0" indent="0" algn="l">
              <a:lnSpc>
                <a:spcPts val="4850"/>
              </a:lnSpc>
              <a:buNone/>
            </a:pPr>
            <a:r>
              <a:rPr lang="en-US" sz="3900" dirty="0" err="1">
                <a:solidFill>
                  <a:srgbClr val="124E73"/>
                </a:solidFill>
                <a:latin typeface="MuseoModerno Medium" pitchFamily="34" charset="0"/>
              </a:rPr>
              <a:t>Conteneurisation</a:t>
            </a:r>
            <a:r>
              <a:rPr lang="en-US" sz="3900" dirty="0">
                <a:solidFill>
                  <a:srgbClr val="124E73"/>
                </a:solidFill>
                <a:latin typeface="MuseoModerno Medium" pitchFamily="34" charset="0"/>
              </a:rPr>
              <a:t> avec docker</a:t>
            </a:r>
          </a:p>
        </p:txBody>
      </p:sp>
      <p:pic>
        <p:nvPicPr>
          <p:cNvPr id="3" name="Image 2">
            <a:extLst>
              <a:ext uri="{FF2B5EF4-FFF2-40B4-BE49-F238E27FC236}">
                <a16:creationId xmlns:a16="http://schemas.microsoft.com/office/drawing/2014/main" id="{AE0728E9-AF18-1DCA-7B06-D38A7BC60BB3}"/>
              </a:ext>
            </a:extLst>
          </p:cNvPr>
          <p:cNvPicPr>
            <a:picLocks noChangeAspect="1"/>
          </p:cNvPicPr>
          <p:nvPr/>
        </p:nvPicPr>
        <p:blipFill>
          <a:blip r:embed="rId4"/>
          <a:stretch>
            <a:fillRect/>
          </a:stretch>
        </p:blipFill>
        <p:spPr>
          <a:xfrm>
            <a:off x="284237" y="2291564"/>
            <a:ext cx="4225312" cy="2598666"/>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
        <p:nvSpPr>
          <p:cNvPr id="4" name="Text 0">
            <a:extLst>
              <a:ext uri="{FF2B5EF4-FFF2-40B4-BE49-F238E27FC236}">
                <a16:creationId xmlns:a16="http://schemas.microsoft.com/office/drawing/2014/main" id="{6E74DE02-0BED-F69A-D066-3251EF879A67}"/>
              </a:ext>
            </a:extLst>
          </p:cNvPr>
          <p:cNvSpPr/>
          <p:nvPr/>
        </p:nvSpPr>
        <p:spPr>
          <a:xfrm>
            <a:off x="5238677" y="1429236"/>
            <a:ext cx="7914084" cy="627698"/>
          </a:xfrm>
          <a:prstGeom prst="rect">
            <a:avLst/>
          </a:prstGeom>
          <a:noFill/>
          <a:ln/>
        </p:spPr>
        <p:txBody>
          <a:bodyPr wrap="none" lIns="0" tIns="0" rIns="0" bIns="0" rtlCol="0" anchor="t"/>
          <a:lstStyle/>
          <a:p>
            <a:pPr marL="0" indent="0" algn="l">
              <a:lnSpc>
                <a:spcPts val="4850"/>
              </a:lnSpc>
              <a:buNone/>
            </a:pPr>
            <a:r>
              <a:rPr lang="en-US" b="1" dirty="0" err="1">
                <a:solidFill>
                  <a:srgbClr val="124E73"/>
                </a:solidFill>
                <a:latin typeface="MuseoModerno Medium" pitchFamily="34" charset="0"/>
              </a:rPr>
              <a:t>Copie</a:t>
            </a:r>
            <a:r>
              <a:rPr lang="en-US" b="1" dirty="0">
                <a:solidFill>
                  <a:srgbClr val="124E73"/>
                </a:solidFill>
                <a:latin typeface="MuseoModerno Medium" pitchFamily="34" charset="0"/>
              </a:rPr>
              <a:t> le </a:t>
            </a:r>
            <a:r>
              <a:rPr lang="en-US" b="1" dirty="0" err="1">
                <a:solidFill>
                  <a:srgbClr val="124E73"/>
                </a:solidFill>
                <a:latin typeface="MuseoModerno Medium" pitchFamily="34" charset="0"/>
              </a:rPr>
              <a:t>contenu</a:t>
            </a:r>
            <a:r>
              <a:rPr lang="en-US" b="1" dirty="0">
                <a:solidFill>
                  <a:srgbClr val="124E73"/>
                </a:solidFill>
                <a:latin typeface="MuseoModerno Medium" pitchFamily="34" charset="0"/>
              </a:rPr>
              <a:t> de requirement.txt </a:t>
            </a:r>
            <a:r>
              <a:rPr lang="en-US" b="1" dirty="0" err="1">
                <a:solidFill>
                  <a:srgbClr val="124E73"/>
                </a:solidFill>
                <a:latin typeface="MuseoModerno Medium" pitchFamily="34" charset="0"/>
              </a:rPr>
              <a:t>afin</a:t>
            </a:r>
            <a:r>
              <a:rPr lang="en-US" b="1" dirty="0">
                <a:solidFill>
                  <a:srgbClr val="124E73"/>
                </a:solidFill>
                <a:latin typeface="MuseoModerno Medium" pitchFamily="34" charset="0"/>
              </a:rPr>
              <a:t> de </a:t>
            </a:r>
            <a:r>
              <a:rPr lang="en-US" b="1" dirty="0" err="1">
                <a:solidFill>
                  <a:srgbClr val="124E73"/>
                </a:solidFill>
                <a:latin typeface="MuseoModerno Medium" pitchFamily="34" charset="0"/>
              </a:rPr>
              <a:t>mettre</a:t>
            </a:r>
            <a:r>
              <a:rPr lang="en-US" b="1" dirty="0">
                <a:solidFill>
                  <a:srgbClr val="124E73"/>
                </a:solidFill>
                <a:latin typeface="MuseoModerno Medium" pitchFamily="34" charset="0"/>
              </a:rPr>
              <a:t> a jour les dependances</a:t>
            </a:r>
          </a:p>
          <a:p>
            <a:pPr marL="0" indent="0" algn="l">
              <a:lnSpc>
                <a:spcPts val="4850"/>
              </a:lnSpc>
              <a:buNone/>
            </a:pPr>
            <a:r>
              <a:rPr lang="en-US" dirty="0">
                <a:solidFill>
                  <a:srgbClr val="124E73"/>
                </a:solidFill>
                <a:latin typeface="MuseoModerno Medium" pitchFamily="34" charset="0"/>
              </a:rPr>
              <a:t> </a:t>
            </a:r>
          </a:p>
          <a:p>
            <a:pPr marL="285750" indent="-285750" algn="l">
              <a:lnSpc>
                <a:spcPts val="4850"/>
              </a:lnSpc>
              <a:buFontTx/>
              <a:buChar char="-"/>
            </a:pPr>
            <a:r>
              <a:rPr lang="en-US" dirty="0">
                <a:solidFill>
                  <a:srgbClr val="124E73"/>
                </a:solidFill>
                <a:latin typeface="MuseoModerno Medium" pitchFamily="34" charset="0"/>
              </a:rPr>
              <a:t>Docker build –t </a:t>
            </a:r>
            <a:r>
              <a:rPr lang="en-US" dirty="0" err="1">
                <a:solidFill>
                  <a:srgbClr val="124E73"/>
                </a:solidFill>
                <a:latin typeface="MuseoModerno Medium" pitchFamily="34" charset="0"/>
              </a:rPr>
              <a:t>pasta-web:local</a:t>
            </a:r>
            <a:endParaRPr lang="en-US" dirty="0">
              <a:solidFill>
                <a:srgbClr val="124E73"/>
              </a:solidFill>
              <a:latin typeface="MuseoModerno Medium" pitchFamily="34" charset="0"/>
            </a:endParaRPr>
          </a:p>
          <a:p>
            <a:pPr marL="285750" indent="-285750" algn="l">
              <a:lnSpc>
                <a:spcPts val="4850"/>
              </a:lnSpc>
              <a:buFontTx/>
              <a:buChar char="-"/>
            </a:pPr>
            <a:r>
              <a:rPr lang="en-US" dirty="0">
                <a:solidFill>
                  <a:srgbClr val="124E73"/>
                </a:solidFill>
                <a:latin typeface="MuseoModerno Medium" pitchFamily="34" charset="0"/>
              </a:rPr>
              <a:t>Docker run –rm –p 8000:8000 </a:t>
            </a:r>
            <a:r>
              <a:rPr lang="en-US" dirty="0" err="1">
                <a:solidFill>
                  <a:srgbClr val="124E73"/>
                </a:solidFill>
                <a:latin typeface="MuseoModerno Medium" pitchFamily="34" charset="0"/>
              </a:rPr>
              <a:t>pasta-web:local</a:t>
            </a:r>
            <a:endParaRPr lang="en-US" dirty="0">
              <a:solidFill>
                <a:srgbClr val="124E73"/>
              </a:solidFill>
              <a:latin typeface="MuseoModerno Medium" pitchFamily="34" charset="0"/>
            </a:endParaRPr>
          </a:p>
          <a:p>
            <a:pPr marL="285750" indent="-285750" algn="l">
              <a:lnSpc>
                <a:spcPts val="4850"/>
              </a:lnSpc>
              <a:buFontTx/>
              <a:buChar char="-"/>
            </a:pPr>
            <a:r>
              <a:rPr lang="en-US" dirty="0">
                <a:solidFill>
                  <a:srgbClr val="124E73"/>
                </a:solidFill>
                <a:latin typeface="MuseoModerno Medium" pitchFamily="34" charset="0"/>
              </a:rPr>
              <a:t>Docker compose up –build</a:t>
            </a:r>
          </a:p>
          <a:p>
            <a:pPr marL="285750" indent="-285750" algn="l">
              <a:lnSpc>
                <a:spcPts val="4850"/>
              </a:lnSpc>
              <a:buFontTx/>
              <a:buChar char="-"/>
            </a:pPr>
            <a:r>
              <a:rPr lang="en-US" dirty="0">
                <a:solidFill>
                  <a:srgbClr val="124E73"/>
                </a:solidFill>
                <a:latin typeface="MuseoModerno Medium" pitchFamily="34" charset="0"/>
              </a:rPr>
              <a:t>Docker compose down</a:t>
            </a:r>
          </a:p>
          <a:p>
            <a:pPr algn="l">
              <a:lnSpc>
                <a:spcPts val="4850"/>
              </a:lnSpc>
            </a:pPr>
            <a:endParaRPr lang="en-US" dirty="0">
              <a:solidFill>
                <a:srgbClr val="124E73"/>
              </a:solidFill>
              <a:latin typeface="MuseoModerno Medium" pitchFamily="34" charset="0"/>
            </a:endParaRPr>
          </a:p>
          <a:p>
            <a:pPr algn="l">
              <a:lnSpc>
                <a:spcPts val="4850"/>
              </a:lnSpc>
            </a:pPr>
            <a:endParaRPr lang="en-US" dirty="0">
              <a:solidFill>
                <a:srgbClr val="124E73"/>
              </a:solidFill>
              <a:latin typeface="MuseoModerno Medium" pitchFamily="34" charset="0"/>
            </a:endParaRPr>
          </a:p>
        </p:txBody>
      </p:sp>
      <p:pic>
        <p:nvPicPr>
          <p:cNvPr id="6" name="Image 5">
            <a:extLst>
              <a:ext uri="{FF2B5EF4-FFF2-40B4-BE49-F238E27FC236}">
                <a16:creationId xmlns:a16="http://schemas.microsoft.com/office/drawing/2014/main" id="{A8317173-A532-AA19-6839-F10E0FE986C7}"/>
              </a:ext>
            </a:extLst>
          </p:cNvPr>
          <p:cNvPicPr>
            <a:picLocks noChangeAspect="1"/>
          </p:cNvPicPr>
          <p:nvPr/>
        </p:nvPicPr>
        <p:blipFill>
          <a:blip r:embed="rId5"/>
          <a:stretch>
            <a:fillRect/>
          </a:stretch>
        </p:blipFill>
        <p:spPr>
          <a:xfrm>
            <a:off x="504954" y="5207409"/>
            <a:ext cx="2652330" cy="813597"/>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Tree>
    <p:extLst>
      <p:ext uri="{BB962C8B-B14F-4D97-AF65-F5344CB8AC3E}">
        <p14:creationId xmlns:p14="http://schemas.microsoft.com/office/powerpoint/2010/main" val="2159272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7467" y="1245751"/>
            <a:ext cx="7467838" cy="537091"/>
          </a:xfrm>
          <a:prstGeom prst="rect">
            <a:avLst/>
          </a:prstGeom>
          <a:noFill/>
          <a:ln/>
        </p:spPr>
        <p:txBody>
          <a:bodyPr wrap="none" lIns="0" tIns="0" rIns="0" bIns="0" rtlCol="0" anchor="t"/>
          <a:lstStyle/>
          <a:p>
            <a:pPr marL="0" indent="0" algn="l">
              <a:lnSpc>
                <a:spcPts val="4200"/>
              </a:lnSpc>
              <a:buNone/>
            </a:pPr>
            <a:r>
              <a:rPr lang="en-US" sz="3350" dirty="0">
                <a:solidFill>
                  <a:srgbClr val="124E73"/>
                </a:solidFill>
                <a:latin typeface="MuseoModerno Medium" pitchFamily="34" charset="0"/>
                <a:ea typeface="MuseoModerno Medium" pitchFamily="34" charset="-122"/>
                <a:cs typeface="MuseoModerno Medium" pitchFamily="34" charset="-120"/>
              </a:rPr>
              <a:t>Automatiser la Création de Serveurs</a:t>
            </a:r>
            <a:endParaRPr lang="en-US" sz="3350" dirty="0"/>
          </a:p>
        </p:txBody>
      </p:sp>
      <p:sp>
        <p:nvSpPr>
          <p:cNvPr id="3" name="Text 1"/>
          <p:cNvSpPr/>
          <p:nvPr/>
        </p:nvSpPr>
        <p:spPr>
          <a:xfrm>
            <a:off x="687467" y="2080498"/>
            <a:ext cx="13255466" cy="256580"/>
          </a:xfrm>
          <a:prstGeom prst="rect">
            <a:avLst/>
          </a:prstGeom>
          <a:noFill/>
          <a:ln/>
        </p:spPr>
        <p:txBody>
          <a:bodyPr wrap="none" lIns="0" tIns="0" rIns="0" bIns="0" rtlCol="0" anchor="t"/>
          <a:lstStyle/>
          <a:p>
            <a:pPr marL="0" indent="0" algn="l">
              <a:lnSpc>
                <a:spcPts val="2000"/>
              </a:lnSpc>
              <a:buNone/>
            </a:pPr>
            <a:r>
              <a:rPr lang="en-US" sz="1350" dirty="0">
                <a:solidFill>
                  <a:srgbClr val="2B4150"/>
                </a:solidFill>
                <a:latin typeface="Source Sans 3" pitchFamily="34" charset="0"/>
                <a:ea typeface="Source Sans 3" pitchFamily="34" charset="-122"/>
                <a:cs typeface="Source Sans 3" pitchFamily="34" charset="-120"/>
              </a:rPr>
              <a:t>Plusieurs approches ont été explorées pour automatiser la création d'infrastructure, allant de la virtualisation locale sous Hyper-V jusqu'au provisionnement cloud via Terraform.</a:t>
            </a:r>
            <a:endParaRPr lang="en-US" sz="1350" dirty="0"/>
          </a:p>
        </p:txBody>
      </p:sp>
      <p:sp>
        <p:nvSpPr>
          <p:cNvPr id="4" name="Text 2"/>
          <p:cNvSpPr/>
          <p:nvPr/>
        </p:nvSpPr>
        <p:spPr>
          <a:xfrm>
            <a:off x="687467" y="2653308"/>
            <a:ext cx="3009662" cy="268605"/>
          </a:xfrm>
          <a:prstGeom prst="rect">
            <a:avLst/>
          </a:prstGeom>
          <a:noFill/>
          <a:ln/>
        </p:spPr>
        <p:txBody>
          <a:bodyPr wrap="none" lIns="0" tIns="0" rIns="0" bIns="0" rtlCol="0" anchor="t"/>
          <a:lstStyle/>
          <a:p>
            <a:pPr marL="0" indent="0" algn="l">
              <a:lnSpc>
                <a:spcPts val="2100"/>
              </a:lnSpc>
              <a:buNone/>
            </a:pPr>
            <a:r>
              <a:rPr lang="en-US" sz="1650" dirty="0">
                <a:solidFill>
                  <a:srgbClr val="124E73"/>
                </a:solidFill>
                <a:latin typeface="MuseoModerno Medium" pitchFamily="34" charset="0"/>
                <a:ea typeface="MuseoModerno Medium" pitchFamily="34" charset="-122"/>
                <a:cs typeface="MuseoModerno Medium" pitchFamily="34" charset="-120"/>
              </a:rPr>
              <a:t>Hyper-V &amp; Scripts PowerShell</a:t>
            </a:r>
            <a:endParaRPr lang="en-US" sz="1650" dirty="0"/>
          </a:p>
        </p:txBody>
      </p:sp>
      <p:sp>
        <p:nvSpPr>
          <p:cNvPr id="5" name="Text 3"/>
          <p:cNvSpPr/>
          <p:nvPr/>
        </p:nvSpPr>
        <p:spPr>
          <a:xfrm>
            <a:off x="687467" y="3070741"/>
            <a:ext cx="6418064" cy="1282898"/>
          </a:xfrm>
          <a:prstGeom prst="rect">
            <a:avLst/>
          </a:prstGeom>
          <a:noFill/>
          <a:ln/>
        </p:spPr>
        <p:txBody>
          <a:bodyPr wrap="square" lIns="0" tIns="0" rIns="0" bIns="0" rtlCol="0" anchor="t"/>
          <a:lstStyle/>
          <a:p>
            <a:pPr marL="0" indent="0" algn="l">
              <a:lnSpc>
                <a:spcPts val="2000"/>
              </a:lnSpc>
              <a:buNone/>
            </a:pPr>
            <a:r>
              <a:rPr lang="en-US" sz="1350" dirty="0">
                <a:solidFill>
                  <a:srgbClr val="2B4150"/>
                </a:solidFill>
                <a:latin typeface="Source Sans 3" pitchFamily="34" charset="0"/>
                <a:ea typeface="Source Sans 3" pitchFamily="34" charset="-122"/>
                <a:cs typeface="Source Sans 3" pitchFamily="34" charset="-120"/>
              </a:rPr>
              <a:t>La première approche consiste à utiliser des scripts </a:t>
            </a:r>
            <a:r>
              <a:rPr lang="en-US" sz="1350" b="1" dirty="0">
                <a:solidFill>
                  <a:srgbClr val="2B4150"/>
                </a:solidFill>
                <a:latin typeface="Source Sans 3" pitchFamily="34" charset="0"/>
                <a:ea typeface="Source Sans 3" pitchFamily="34" charset="-122"/>
                <a:cs typeface="Source Sans 3" pitchFamily="34" charset="-120"/>
              </a:rPr>
              <a:t>.ps1</a:t>
            </a:r>
            <a:r>
              <a:rPr lang="en-US" sz="1350" dirty="0">
                <a:solidFill>
                  <a:srgbClr val="2B4150"/>
                </a:solidFill>
                <a:latin typeface="Source Sans 3" pitchFamily="34" charset="0"/>
                <a:ea typeface="Source Sans 3" pitchFamily="34" charset="-122"/>
                <a:cs typeface="Source Sans 3" pitchFamily="34" charset="-120"/>
              </a:rPr>
              <a:t> envoyant à Hyper-V une configuration permettant la création d'une VM (une lubuntu légère), sans installation ni configuration. C'est une méthode simple mais puissante : une bonne suite de fichiers .ps1, .bat ou .sh peut accomplir de grandes choses — comme en témoigne leur usage dans l'industrie de la défense depuis 30 ans.</a:t>
            </a:r>
            <a:endParaRPr lang="en-US" sz="1350" dirty="0"/>
          </a:p>
        </p:txBody>
      </p:sp>
      <p:sp>
        <p:nvSpPr>
          <p:cNvPr id="6" name="Text 4"/>
          <p:cNvSpPr/>
          <p:nvPr/>
        </p:nvSpPr>
        <p:spPr>
          <a:xfrm>
            <a:off x="687467" y="4487585"/>
            <a:ext cx="6418064" cy="769739"/>
          </a:xfrm>
          <a:prstGeom prst="rect">
            <a:avLst/>
          </a:prstGeom>
          <a:noFill/>
          <a:ln/>
        </p:spPr>
        <p:txBody>
          <a:bodyPr wrap="square" lIns="0" tIns="0" rIns="0" bIns="0" rtlCol="0" anchor="t"/>
          <a:lstStyle/>
          <a:p>
            <a:pPr marL="0" indent="0" algn="l">
              <a:lnSpc>
                <a:spcPts val="2000"/>
              </a:lnSpc>
              <a:buNone/>
            </a:pPr>
            <a:r>
              <a:rPr lang="en-US" sz="1350" dirty="0">
                <a:solidFill>
                  <a:srgbClr val="2B4150"/>
                </a:solidFill>
                <a:latin typeface="Source Sans 3" pitchFamily="34" charset="0"/>
                <a:ea typeface="Source Sans 3" pitchFamily="34" charset="-122"/>
                <a:cs typeface="Source Sans 3" pitchFamily="34" charset="-120"/>
              </a:rPr>
              <a:t>Les VMs locales présentent un avantage réseau important : elles peuvent rester sur un réseau interne fermé (pas de sortie Internet), favorisant le travail collaboratif sécurisé. Une VM dédiée peut jouer le rôle de proxy pour les autres, masquant leurs IP internes.</a:t>
            </a:r>
            <a:endParaRPr lang="en-US" sz="1350" dirty="0"/>
          </a:p>
        </p:txBody>
      </p:sp>
      <p:sp>
        <p:nvSpPr>
          <p:cNvPr id="7" name="Text 5"/>
          <p:cNvSpPr/>
          <p:nvPr/>
        </p:nvSpPr>
        <p:spPr>
          <a:xfrm>
            <a:off x="687467" y="5406152"/>
            <a:ext cx="3774519" cy="268605"/>
          </a:xfrm>
          <a:prstGeom prst="rect">
            <a:avLst/>
          </a:prstGeom>
          <a:noFill/>
          <a:ln/>
        </p:spPr>
        <p:txBody>
          <a:bodyPr wrap="none" lIns="0" tIns="0" rIns="0" bIns="0" rtlCol="0" anchor="t"/>
          <a:lstStyle/>
          <a:p>
            <a:pPr marL="0" indent="0" algn="l">
              <a:lnSpc>
                <a:spcPts val="2100"/>
              </a:lnSpc>
              <a:buNone/>
            </a:pPr>
            <a:r>
              <a:rPr lang="en-US" sz="1650" dirty="0">
                <a:solidFill>
                  <a:srgbClr val="124E73"/>
                </a:solidFill>
                <a:latin typeface="MuseoModerno Medium" pitchFamily="34" charset="0"/>
                <a:ea typeface="MuseoModerno Medium" pitchFamily="34" charset="-122"/>
                <a:cs typeface="MuseoModerno Medium" pitchFamily="34" charset="-120"/>
              </a:rPr>
              <a:t>Terraform sur Oracle Cloud (Free Tier)</a:t>
            </a:r>
            <a:endParaRPr lang="en-US" sz="1650" dirty="0"/>
          </a:p>
        </p:txBody>
      </p:sp>
      <p:sp>
        <p:nvSpPr>
          <p:cNvPr id="8" name="Text 6"/>
          <p:cNvSpPr/>
          <p:nvPr/>
        </p:nvSpPr>
        <p:spPr>
          <a:xfrm>
            <a:off x="687467" y="5823585"/>
            <a:ext cx="6534270" cy="1026319"/>
          </a:xfrm>
          <a:prstGeom prst="rect">
            <a:avLst/>
          </a:prstGeom>
          <a:noFill/>
          <a:ln/>
        </p:spPr>
        <p:txBody>
          <a:bodyPr wrap="square" lIns="0" tIns="0" rIns="0" bIns="0" rtlCol="0" anchor="t"/>
          <a:lstStyle/>
          <a:p>
            <a:pPr marL="0" indent="0" algn="l">
              <a:lnSpc>
                <a:spcPts val="2000"/>
              </a:lnSpc>
              <a:buNone/>
            </a:pPr>
            <a:r>
              <a:rPr lang="en-US" sz="1350" dirty="0">
                <a:solidFill>
                  <a:srgbClr val="2B4150"/>
                </a:solidFill>
                <a:latin typeface="Source Sans 3" pitchFamily="34" charset="0"/>
                <a:ea typeface="Source Sans 3" pitchFamily="34" charset="-122"/>
                <a:cs typeface="Source Sans 3" pitchFamily="34" charset="-120"/>
              </a:rPr>
              <a:t>Malgré de nombreuses tentatives, le free tier Oracle ne disposait pas de </a:t>
            </a:r>
            <a:r>
              <a:rPr lang="en-US" sz="1350" dirty="0" err="1">
                <a:solidFill>
                  <a:srgbClr val="2B4150"/>
                </a:solidFill>
                <a:latin typeface="Source Sans 3" pitchFamily="34" charset="0"/>
                <a:ea typeface="Source Sans 3" pitchFamily="34" charset="-122"/>
                <a:cs typeface="Source Sans 3" pitchFamily="34" charset="-120"/>
              </a:rPr>
              <a:t>capacités</a:t>
            </a:r>
            <a:r>
              <a:rPr lang="en-US" sz="1350" dirty="0">
                <a:solidFill>
                  <a:srgbClr val="2B4150"/>
                </a:solidFill>
                <a:latin typeface="Source Sans 3" pitchFamily="34" charset="0"/>
                <a:ea typeface="Source Sans 3" pitchFamily="34" charset="-122"/>
                <a:cs typeface="Source Sans 3" pitchFamily="34" charset="-120"/>
              </a:rPr>
              <a:t> suffisantes pour héberger l'application. Le travail fourni est documenté, mais </a:t>
            </a:r>
            <a:r>
              <a:rPr lang="en-US" sz="1350" b="1" dirty="0">
                <a:solidFill>
                  <a:srgbClr val="2B4150"/>
                </a:solidFill>
                <a:latin typeface="Source Sans 3" pitchFamily="34" charset="0"/>
                <a:ea typeface="Source Sans 3" pitchFamily="34" charset="-122"/>
                <a:cs typeface="Source Sans 3" pitchFamily="34" charset="-120"/>
              </a:rPr>
              <a:t>l'hébergeur final a été migré vers Google Cloud Platform</a:t>
            </a:r>
            <a:r>
              <a:rPr lang="en-US" sz="1350" dirty="0">
                <a:solidFill>
                  <a:srgbClr val="2B4150"/>
                </a:solidFill>
                <a:latin typeface="Source Sans 3" pitchFamily="34" charset="0"/>
                <a:ea typeface="Source Sans 3" pitchFamily="34" charset="-122"/>
                <a:cs typeface="Source Sans 3" pitchFamily="34" charset="-120"/>
              </a:rPr>
              <a:t>, une décision rapide qui illustre la portabilité des configurations Terraform.</a:t>
            </a:r>
            <a:endParaRPr lang="en-US" sz="1350" dirty="0"/>
          </a:p>
        </p:txBody>
      </p:sp>
      <p:sp>
        <p:nvSpPr>
          <p:cNvPr id="9" name="Shape 7"/>
          <p:cNvSpPr/>
          <p:nvPr/>
        </p:nvSpPr>
        <p:spPr>
          <a:xfrm>
            <a:off x="7408664" y="2504480"/>
            <a:ext cx="6665714" cy="4479369"/>
          </a:xfrm>
          <a:prstGeom prst="roundRect">
            <a:avLst>
              <a:gd name="adj" fmla="val 576"/>
            </a:avLst>
          </a:prstGeom>
          <a:solidFill>
            <a:srgbClr val="325F7B"/>
          </a:solidFill>
          <a:ln/>
        </p:spPr>
      </p:sp>
      <p:sp>
        <p:nvSpPr>
          <p:cNvPr id="10" name="Text 8"/>
          <p:cNvSpPr/>
          <p:nvPr/>
        </p:nvSpPr>
        <p:spPr>
          <a:xfrm>
            <a:off x="7580471" y="2653308"/>
            <a:ext cx="3800118" cy="268605"/>
          </a:xfrm>
          <a:prstGeom prst="rect">
            <a:avLst/>
          </a:prstGeom>
          <a:noFill/>
          <a:ln/>
        </p:spPr>
        <p:txBody>
          <a:bodyPr wrap="none" lIns="0" tIns="0" rIns="0" bIns="0" rtlCol="0" anchor="t"/>
          <a:lstStyle/>
          <a:p>
            <a:pPr marL="0" indent="0" algn="l">
              <a:lnSpc>
                <a:spcPts val="2100"/>
              </a:lnSpc>
              <a:buNone/>
            </a:pPr>
            <a:r>
              <a:rPr lang="en-US" sz="1650" dirty="0">
                <a:solidFill>
                  <a:srgbClr val="FFFFFF"/>
                </a:solidFill>
                <a:latin typeface="MuseoModerno Medium" pitchFamily="34" charset="0"/>
                <a:ea typeface="MuseoModerno Medium" pitchFamily="34" charset="-122"/>
                <a:cs typeface="MuseoModerno Medium" pitchFamily="34" charset="-120"/>
              </a:rPr>
              <a:t>Terraform sur Google Cloud Platform</a:t>
            </a:r>
            <a:endParaRPr lang="en-US" sz="1650" dirty="0"/>
          </a:p>
        </p:txBody>
      </p:sp>
      <p:sp>
        <p:nvSpPr>
          <p:cNvPr id="11" name="Text 9"/>
          <p:cNvSpPr/>
          <p:nvPr/>
        </p:nvSpPr>
        <p:spPr>
          <a:xfrm>
            <a:off x="7580471" y="3070741"/>
            <a:ext cx="6322100" cy="528399"/>
          </a:xfrm>
          <a:prstGeom prst="rect">
            <a:avLst/>
          </a:prstGeom>
          <a:noFill/>
          <a:ln/>
        </p:spPr>
        <p:txBody>
          <a:bodyPr wrap="square" lIns="0" tIns="0" rIns="0" bIns="0" rtlCol="0" anchor="t"/>
          <a:lstStyle/>
          <a:p>
            <a:pPr marL="0" indent="0" algn="l">
              <a:lnSpc>
                <a:spcPts val="2000"/>
              </a:lnSpc>
              <a:buNone/>
            </a:pPr>
            <a:r>
              <a:rPr lang="en-US" sz="1350" dirty="0">
                <a:solidFill>
                  <a:srgbClr val="FFFFFF"/>
                </a:solidFill>
                <a:latin typeface="Source Sans 3" pitchFamily="34" charset="0"/>
                <a:ea typeface="Source Sans 3" pitchFamily="34" charset="-122"/>
                <a:cs typeface="Source Sans 3" pitchFamily="34" charset="-120"/>
              </a:rPr>
              <a:t>GCP s'est révélé nettement plus accessible qu'Oracle — « environ 2 jours et 1 minute 50 secondes plus rapide pour un même cerveau ». Les fichiers </a:t>
            </a:r>
            <a:r>
              <a:rPr lang="en-US" sz="1350" dirty="0">
                <a:solidFill>
                  <a:srgbClr val="FFFFFF"/>
                </a:solidFill>
                <a:highlight>
                  <a:srgbClr val="3F6C88"/>
                </a:highlight>
                <a:latin typeface="Consolas" pitchFamily="34" charset="0"/>
                <a:ea typeface="Consolas" pitchFamily="34" charset="-122"/>
                <a:cs typeface="Consolas" pitchFamily="34" charset="-120"/>
              </a:rPr>
              <a:t>.tf</a:t>
            </a:r>
            <a:r>
              <a:rPr lang="en-US" sz="1350" dirty="0">
                <a:solidFill>
                  <a:srgbClr val="FFFFFF"/>
                </a:solidFill>
                <a:latin typeface="Source Sans 3" pitchFamily="34" charset="0"/>
                <a:ea typeface="Source Sans 3" pitchFamily="34" charset="-122"/>
                <a:cs typeface="Source Sans 3" pitchFamily="34" charset="-120"/>
              </a:rPr>
              <a:t> permettent de :</a:t>
            </a:r>
            <a:endParaRPr lang="en-US" sz="1350" dirty="0"/>
          </a:p>
        </p:txBody>
      </p:sp>
      <p:sp>
        <p:nvSpPr>
          <p:cNvPr id="12" name="Text 10"/>
          <p:cNvSpPr/>
          <p:nvPr/>
        </p:nvSpPr>
        <p:spPr>
          <a:xfrm>
            <a:off x="7580471" y="3733086"/>
            <a:ext cx="6322100" cy="873800"/>
          </a:xfrm>
          <a:prstGeom prst="rect">
            <a:avLst/>
          </a:prstGeom>
          <a:noFill/>
          <a:ln/>
        </p:spPr>
        <p:txBody>
          <a:bodyPr wrap="square" lIns="0" tIns="0" rIns="0" bIns="0" rtlCol="0" anchor="t"/>
          <a:lstStyle/>
          <a:p>
            <a:pPr marL="342900" indent="-342900" algn="l">
              <a:lnSpc>
                <a:spcPts val="20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Créer la VM et la rendre accessible depuis la console GCP</a:t>
            </a:r>
            <a:endParaRPr lang="en-US" sz="1350" dirty="0"/>
          </a:p>
          <a:p>
            <a:pPr marL="342900" indent="-342900" algn="l">
              <a:lnSpc>
                <a:spcPts val="20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Injecter les clefs SSH directement via la configuration (prérequis sécurité)</a:t>
            </a:r>
            <a:endParaRPr lang="en-US" sz="1350" dirty="0"/>
          </a:p>
          <a:p>
            <a:pPr marL="342900" indent="-342900" algn="l">
              <a:lnSpc>
                <a:spcPts val="20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Paramétrer le réseau, les règles de pare-feu et les métadonnées</a:t>
            </a:r>
            <a:endParaRPr lang="en-US" sz="1350" dirty="0"/>
          </a:p>
        </p:txBody>
      </p:sp>
      <p:sp>
        <p:nvSpPr>
          <p:cNvPr id="13" name="Text 11"/>
          <p:cNvSpPr/>
          <p:nvPr/>
        </p:nvSpPr>
        <p:spPr>
          <a:xfrm>
            <a:off x="7580471" y="4740831"/>
            <a:ext cx="6322100" cy="513159"/>
          </a:xfrm>
          <a:prstGeom prst="rect">
            <a:avLst/>
          </a:prstGeom>
          <a:noFill/>
          <a:ln/>
        </p:spPr>
        <p:txBody>
          <a:bodyPr wrap="square" lIns="0" tIns="0" rIns="0" bIns="0" rtlCol="0" anchor="t"/>
          <a:lstStyle/>
          <a:p>
            <a:pPr marL="0" indent="0" algn="l">
              <a:lnSpc>
                <a:spcPts val="2000"/>
              </a:lnSpc>
              <a:buNone/>
            </a:pPr>
            <a:r>
              <a:rPr lang="en-US" sz="1350" dirty="0">
                <a:solidFill>
                  <a:srgbClr val="FFFFFF"/>
                </a:solidFill>
                <a:latin typeface="Source Sans 3" pitchFamily="34" charset="0"/>
                <a:ea typeface="Source Sans 3" pitchFamily="34" charset="-122"/>
                <a:cs typeface="Source Sans 3" pitchFamily="34" charset="-120"/>
              </a:rPr>
              <a:t>Une fois la VM provisionnée par Terraform, </a:t>
            </a:r>
            <a:r>
              <a:rPr lang="en-US" sz="1350" b="1" dirty="0">
                <a:solidFill>
                  <a:srgbClr val="FFFFFF"/>
                </a:solidFill>
                <a:latin typeface="Source Sans 3" pitchFamily="34" charset="0"/>
                <a:ea typeface="Source Sans 3" pitchFamily="34" charset="-122"/>
                <a:cs typeface="Source Sans 3" pitchFamily="34" charset="-120"/>
              </a:rPr>
              <a:t>Ansible prend le relai</a:t>
            </a:r>
            <a:r>
              <a:rPr lang="en-US" sz="1350" dirty="0">
                <a:solidFill>
                  <a:srgbClr val="FFFFFF"/>
                </a:solidFill>
                <a:latin typeface="Source Sans 3" pitchFamily="34" charset="0"/>
                <a:ea typeface="Source Sans 3" pitchFamily="34" charset="-122"/>
                <a:cs typeface="Source Sans 3" pitchFamily="34" charset="-120"/>
              </a:rPr>
              <a:t> pour la configuration applicative. Ce duo est l'épine dorsale du déploiement automatisé du projet.</a:t>
            </a:r>
            <a:endParaRPr lang="en-US" sz="1350" dirty="0"/>
          </a:p>
        </p:txBody>
      </p:sp>
      <p:sp>
        <p:nvSpPr>
          <p:cNvPr id="14" name="Shape 12"/>
          <p:cNvSpPr/>
          <p:nvPr/>
        </p:nvSpPr>
        <p:spPr>
          <a:xfrm>
            <a:off x="7580471" y="5421392"/>
            <a:ext cx="6322100" cy="939879"/>
          </a:xfrm>
          <a:prstGeom prst="roundRect">
            <a:avLst>
              <a:gd name="adj" fmla="val 2743"/>
            </a:avLst>
          </a:prstGeom>
          <a:solidFill>
            <a:srgbClr val="C9DDE9"/>
          </a:solidFill>
          <a:ln/>
        </p:spPr>
      </p:sp>
      <p:pic>
        <p:nvPicPr>
          <p:cNvPr id="15" name="Image 0" descr="preencoded.png"/>
          <p:cNvPicPr>
            <a:picLocks noChangeAspect="1"/>
          </p:cNvPicPr>
          <p:nvPr/>
        </p:nvPicPr>
        <p:blipFill>
          <a:blip r:embed="rId3"/>
          <a:stretch>
            <a:fillRect/>
          </a:stretch>
        </p:blipFill>
        <p:spPr>
          <a:xfrm>
            <a:off x="7752278" y="5660946"/>
            <a:ext cx="214789" cy="171807"/>
          </a:xfrm>
          <a:prstGeom prst="rect">
            <a:avLst/>
          </a:prstGeom>
        </p:spPr>
      </p:pic>
      <p:sp>
        <p:nvSpPr>
          <p:cNvPr id="16" name="Text 13"/>
          <p:cNvSpPr/>
          <p:nvPr/>
        </p:nvSpPr>
        <p:spPr>
          <a:xfrm>
            <a:off x="8138874" y="5613083"/>
            <a:ext cx="5591889" cy="528399"/>
          </a:xfrm>
          <a:prstGeom prst="rect">
            <a:avLst/>
          </a:prstGeom>
          <a:noFill/>
          <a:ln/>
        </p:spPr>
        <p:txBody>
          <a:bodyPr wrap="square" lIns="0" tIns="0" rIns="0" bIns="0" rtlCol="0" anchor="t"/>
          <a:lstStyle/>
          <a:p>
            <a:pPr marL="0" indent="0" algn="l">
              <a:lnSpc>
                <a:spcPts val="2000"/>
              </a:lnSpc>
              <a:buNone/>
            </a:pPr>
            <a:r>
              <a:rPr lang="en-US" sz="1350" dirty="0">
                <a:solidFill>
                  <a:srgbClr val="000000"/>
                </a:solidFill>
                <a:latin typeface="Source Sans 3" pitchFamily="34" charset="0"/>
                <a:ea typeface="Source Sans 3" pitchFamily="34" charset="-122"/>
                <a:cs typeface="Source Sans 3" pitchFamily="34" charset="-120"/>
              </a:rPr>
              <a:t>La structure des fichiers </a:t>
            </a:r>
            <a:r>
              <a:rPr lang="en-US" sz="1350" dirty="0">
                <a:solidFill>
                  <a:srgbClr val="000000"/>
                </a:solidFill>
                <a:highlight>
                  <a:srgbClr val="3F6C88"/>
                </a:highlight>
                <a:latin typeface="Consolas" pitchFamily="34" charset="0"/>
                <a:ea typeface="Consolas" pitchFamily="34" charset="-122"/>
                <a:cs typeface="Consolas" pitchFamily="34" charset="-120"/>
              </a:rPr>
              <a:t>.tf</a:t>
            </a:r>
            <a:r>
              <a:rPr lang="en-US" sz="1350" dirty="0">
                <a:solidFill>
                  <a:srgbClr val="000000"/>
                </a:solidFill>
                <a:latin typeface="Source Sans 3" pitchFamily="34" charset="0"/>
                <a:ea typeface="Source Sans 3" pitchFamily="34" charset="-122"/>
                <a:cs typeface="Source Sans 3" pitchFamily="34" charset="-120"/>
              </a:rPr>
              <a:t> a évolué au fil du projet — preuve que l'Infrastructure as Code s'affine avec l'expérience.</a:t>
            </a:r>
            <a:endParaRPr lang="en-US" sz="1350" dirty="0"/>
          </a:p>
        </p:txBody>
      </p:sp>
      <p:pic>
        <p:nvPicPr>
          <p:cNvPr id="18" name="Image 17">
            <a:extLst>
              <a:ext uri="{FF2B5EF4-FFF2-40B4-BE49-F238E27FC236}">
                <a16:creationId xmlns:a16="http://schemas.microsoft.com/office/drawing/2014/main" id="{C063302B-3C5B-7A0E-28A8-F14A6396F8E5}"/>
              </a:ext>
            </a:extLst>
          </p:cNvPr>
          <p:cNvPicPr>
            <a:picLocks noChangeAspect="1"/>
          </p:cNvPicPr>
          <p:nvPr/>
        </p:nvPicPr>
        <p:blipFill>
          <a:blip r:embed="rId4"/>
          <a:stretch>
            <a:fillRect/>
          </a:stretch>
        </p:blipFill>
        <p:spPr>
          <a:xfrm>
            <a:off x="10527471" y="7406515"/>
            <a:ext cx="4001058" cy="7906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sp>
        <p:nvSpPr>
          <p:cNvPr id="12" name="Text 0">
            <a:extLst>
              <a:ext uri="{FF2B5EF4-FFF2-40B4-BE49-F238E27FC236}">
                <a16:creationId xmlns:a16="http://schemas.microsoft.com/office/drawing/2014/main" id="{AACB6795-F0AD-D07B-A600-FF8B183072D5}"/>
              </a:ext>
            </a:extLst>
          </p:cNvPr>
          <p:cNvSpPr/>
          <p:nvPr/>
        </p:nvSpPr>
        <p:spPr>
          <a:xfrm>
            <a:off x="793790" y="631984"/>
            <a:ext cx="7914084" cy="627698"/>
          </a:xfrm>
          <a:prstGeom prst="rect">
            <a:avLst/>
          </a:prstGeom>
          <a:noFill/>
          <a:ln/>
        </p:spPr>
        <p:txBody>
          <a:bodyPr wrap="none" lIns="0" tIns="0" rIns="0" bIns="0" rtlCol="0" anchor="t"/>
          <a:lstStyle/>
          <a:p>
            <a:pPr marL="0" indent="0" algn="l">
              <a:lnSpc>
                <a:spcPts val="4850"/>
              </a:lnSpc>
              <a:buNone/>
            </a:pPr>
            <a:r>
              <a:rPr lang="en-US" sz="3900" dirty="0" err="1">
                <a:solidFill>
                  <a:srgbClr val="124E73"/>
                </a:solidFill>
                <a:latin typeface="MuseoModerno Medium" pitchFamily="34" charset="0"/>
              </a:rPr>
              <a:t>Deploiement</a:t>
            </a:r>
            <a:r>
              <a:rPr lang="en-US" sz="3900" dirty="0">
                <a:solidFill>
                  <a:srgbClr val="124E73"/>
                </a:solidFill>
                <a:latin typeface="MuseoModerno Medium" pitchFamily="34" charset="0"/>
              </a:rPr>
              <a:t> Terraform</a:t>
            </a:r>
          </a:p>
        </p:txBody>
      </p:sp>
      <p:pic>
        <p:nvPicPr>
          <p:cNvPr id="3" name="Image 2">
            <a:extLst>
              <a:ext uri="{FF2B5EF4-FFF2-40B4-BE49-F238E27FC236}">
                <a16:creationId xmlns:a16="http://schemas.microsoft.com/office/drawing/2014/main" id="{0FB5ED30-B0C4-683A-9EC7-01F4D9EF3C52}"/>
              </a:ext>
            </a:extLst>
          </p:cNvPr>
          <p:cNvPicPr>
            <a:picLocks noChangeAspect="1"/>
          </p:cNvPicPr>
          <p:nvPr/>
        </p:nvPicPr>
        <p:blipFill>
          <a:blip r:embed="rId4"/>
          <a:stretch>
            <a:fillRect/>
          </a:stretch>
        </p:blipFill>
        <p:spPr>
          <a:xfrm>
            <a:off x="237199" y="3796548"/>
            <a:ext cx="4286848" cy="1327161"/>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pic>
        <p:nvPicPr>
          <p:cNvPr id="5" name="Image 4">
            <a:extLst>
              <a:ext uri="{FF2B5EF4-FFF2-40B4-BE49-F238E27FC236}">
                <a16:creationId xmlns:a16="http://schemas.microsoft.com/office/drawing/2014/main" id="{351C4367-8852-380C-45AF-EDC6951D5245}"/>
              </a:ext>
            </a:extLst>
          </p:cNvPr>
          <p:cNvPicPr>
            <a:picLocks noChangeAspect="1"/>
          </p:cNvPicPr>
          <p:nvPr/>
        </p:nvPicPr>
        <p:blipFill>
          <a:blip r:embed="rId5"/>
          <a:stretch>
            <a:fillRect/>
          </a:stretch>
        </p:blipFill>
        <p:spPr>
          <a:xfrm>
            <a:off x="237199" y="1473084"/>
            <a:ext cx="4286848" cy="1867161"/>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
        <p:nvSpPr>
          <p:cNvPr id="6" name="Text 0">
            <a:extLst>
              <a:ext uri="{FF2B5EF4-FFF2-40B4-BE49-F238E27FC236}">
                <a16:creationId xmlns:a16="http://schemas.microsoft.com/office/drawing/2014/main" id="{FA6E9608-00F1-C770-D8DA-497C9C274069}"/>
              </a:ext>
            </a:extLst>
          </p:cNvPr>
          <p:cNvSpPr/>
          <p:nvPr/>
        </p:nvSpPr>
        <p:spPr>
          <a:xfrm>
            <a:off x="5238677" y="1427237"/>
            <a:ext cx="7914084" cy="627698"/>
          </a:xfrm>
          <a:prstGeom prst="rect">
            <a:avLst/>
          </a:prstGeom>
          <a:noFill/>
          <a:ln/>
        </p:spPr>
        <p:txBody>
          <a:bodyPr wrap="none" lIns="0" tIns="0" rIns="0" bIns="0" rtlCol="0" anchor="t"/>
          <a:lstStyle/>
          <a:p>
            <a:pPr algn="l">
              <a:lnSpc>
                <a:spcPts val="4850"/>
              </a:lnSpc>
            </a:pPr>
            <a:r>
              <a:rPr lang="en-US" dirty="0">
                <a:solidFill>
                  <a:srgbClr val="124E73"/>
                </a:solidFill>
                <a:latin typeface="MuseoModerno Medium" pitchFamily="34" charset="0"/>
              </a:rPr>
              <a:t>Google reserve </a:t>
            </a:r>
            <a:r>
              <a:rPr lang="en-US" dirty="0" err="1">
                <a:solidFill>
                  <a:srgbClr val="124E73"/>
                </a:solidFill>
                <a:latin typeface="MuseoModerno Medium" pitchFamily="34" charset="0"/>
              </a:rPr>
              <a:t>une</a:t>
            </a:r>
            <a:r>
              <a:rPr lang="en-US" dirty="0">
                <a:solidFill>
                  <a:srgbClr val="124E73"/>
                </a:solidFill>
                <a:latin typeface="MuseoModerno Medium" pitchFamily="34" charset="0"/>
              </a:rPr>
              <a:t> IP fixe dans la region </a:t>
            </a:r>
            <a:r>
              <a:rPr lang="en-US" dirty="0" err="1">
                <a:solidFill>
                  <a:srgbClr val="124E73"/>
                </a:solidFill>
                <a:latin typeface="MuseoModerno Medium" pitchFamily="34" charset="0"/>
              </a:rPr>
              <a:t>demandée</a:t>
            </a:r>
            <a:r>
              <a:rPr lang="en-US" dirty="0">
                <a:solidFill>
                  <a:srgbClr val="124E73"/>
                </a:solidFill>
                <a:latin typeface="MuseoModerno Medium" pitchFamily="34" charset="0"/>
              </a:rPr>
              <a:t>.</a:t>
            </a:r>
          </a:p>
          <a:p>
            <a:pPr algn="l">
              <a:lnSpc>
                <a:spcPts val="4850"/>
              </a:lnSpc>
            </a:pPr>
            <a:r>
              <a:rPr lang="en-US" dirty="0">
                <a:solidFill>
                  <a:srgbClr val="124E73"/>
                </a:solidFill>
                <a:latin typeface="MuseoModerno Medium" pitchFamily="34" charset="0"/>
              </a:rPr>
              <a:t>Les ports  </a:t>
            </a:r>
            <a:r>
              <a:rPr lang="en-US" dirty="0" err="1">
                <a:solidFill>
                  <a:srgbClr val="124E73"/>
                </a:solidFill>
                <a:latin typeface="MuseoModerno Medium" pitchFamily="34" charset="0"/>
              </a:rPr>
              <a:t>ouverts</a:t>
            </a:r>
            <a:r>
              <a:rPr lang="en-US" dirty="0">
                <a:solidFill>
                  <a:srgbClr val="124E73"/>
                </a:solidFill>
                <a:latin typeface="MuseoModerno Medium" pitchFamily="34" charset="0"/>
              </a:rPr>
              <a:t> ;</a:t>
            </a:r>
          </a:p>
          <a:p>
            <a:pPr algn="l">
              <a:lnSpc>
                <a:spcPts val="4850"/>
              </a:lnSpc>
            </a:pPr>
            <a:r>
              <a:rPr lang="en-US" dirty="0">
                <a:solidFill>
                  <a:srgbClr val="124E73"/>
                </a:solidFill>
                <a:latin typeface="MuseoModerno Medium" pitchFamily="34" charset="0"/>
              </a:rPr>
              <a:t>22 SSH Ansible</a:t>
            </a:r>
          </a:p>
          <a:p>
            <a:pPr algn="l">
              <a:lnSpc>
                <a:spcPts val="4850"/>
              </a:lnSpc>
            </a:pPr>
            <a:r>
              <a:rPr lang="en-US" dirty="0">
                <a:solidFill>
                  <a:srgbClr val="124E73"/>
                </a:solidFill>
                <a:latin typeface="MuseoModerno Medium" pitchFamily="34" charset="0"/>
              </a:rPr>
              <a:t>80 HTTP Nginx</a:t>
            </a:r>
          </a:p>
          <a:p>
            <a:pPr algn="l">
              <a:lnSpc>
                <a:spcPts val="4850"/>
              </a:lnSpc>
            </a:pPr>
            <a:r>
              <a:rPr lang="en-US" dirty="0">
                <a:solidFill>
                  <a:srgbClr val="124E73"/>
                </a:solidFill>
                <a:latin typeface="MuseoModerno Medium" pitchFamily="34" charset="0"/>
              </a:rPr>
              <a:t>443 Nginx et Let’s Encrypt</a:t>
            </a:r>
          </a:p>
          <a:p>
            <a:pPr algn="l">
              <a:lnSpc>
                <a:spcPts val="4850"/>
              </a:lnSpc>
            </a:pPr>
            <a:r>
              <a:rPr lang="en-US" dirty="0">
                <a:solidFill>
                  <a:srgbClr val="124E73"/>
                </a:solidFill>
                <a:latin typeface="MuseoModerno Medium" pitchFamily="34" charset="0"/>
              </a:rPr>
              <a:t>3001 </a:t>
            </a:r>
            <a:r>
              <a:rPr lang="en-US" dirty="0" err="1">
                <a:solidFill>
                  <a:srgbClr val="124E73"/>
                </a:solidFill>
                <a:latin typeface="MuseoModerno Medium" pitchFamily="34" charset="0"/>
              </a:rPr>
              <a:t>UpTime</a:t>
            </a:r>
            <a:r>
              <a:rPr lang="en-US" dirty="0">
                <a:solidFill>
                  <a:srgbClr val="124E73"/>
                </a:solidFill>
                <a:latin typeface="MuseoModerno Medium" pitchFamily="34" charset="0"/>
              </a:rPr>
              <a:t> Kuma</a:t>
            </a:r>
          </a:p>
        </p:txBody>
      </p:sp>
      <p:sp>
        <p:nvSpPr>
          <p:cNvPr id="7" name="Text 0">
            <a:extLst>
              <a:ext uri="{FF2B5EF4-FFF2-40B4-BE49-F238E27FC236}">
                <a16:creationId xmlns:a16="http://schemas.microsoft.com/office/drawing/2014/main" id="{AA5CF6AD-0C11-1D41-F2BF-301263080DEC}"/>
              </a:ext>
            </a:extLst>
          </p:cNvPr>
          <p:cNvSpPr/>
          <p:nvPr/>
        </p:nvSpPr>
        <p:spPr>
          <a:xfrm>
            <a:off x="5014378" y="5580013"/>
            <a:ext cx="7914084" cy="627698"/>
          </a:xfrm>
          <a:prstGeom prst="rect">
            <a:avLst/>
          </a:prstGeom>
          <a:noFill/>
          <a:ln/>
        </p:spPr>
        <p:txBody>
          <a:bodyPr wrap="none" lIns="0" tIns="0" rIns="0" bIns="0" rtlCol="0" anchor="t"/>
          <a:lstStyle/>
          <a:p>
            <a:pPr algn="l">
              <a:lnSpc>
                <a:spcPts val="4850"/>
              </a:lnSpc>
            </a:pPr>
            <a:r>
              <a:rPr lang="en-US" dirty="0">
                <a:solidFill>
                  <a:srgbClr val="124E73"/>
                </a:solidFill>
                <a:latin typeface="MuseoModerno Medium" pitchFamily="34" charset="0"/>
              </a:rPr>
              <a:t>Machine e2-micro (disponible free tier)</a:t>
            </a:r>
          </a:p>
          <a:p>
            <a:pPr algn="l">
              <a:lnSpc>
                <a:spcPts val="4850"/>
              </a:lnSpc>
            </a:pPr>
            <a:r>
              <a:rPr lang="en-US" dirty="0">
                <a:solidFill>
                  <a:srgbClr val="124E73"/>
                </a:solidFill>
                <a:latin typeface="MuseoModerno Medium" pitchFamily="34" charset="0"/>
              </a:rPr>
              <a:t>Une VM Ubuntu avec 30 go de stockage</a:t>
            </a:r>
          </a:p>
        </p:txBody>
      </p:sp>
      <p:pic>
        <p:nvPicPr>
          <p:cNvPr id="9" name="Image 8">
            <a:extLst>
              <a:ext uri="{FF2B5EF4-FFF2-40B4-BE49-F238E27FC236}">
                <a16:creationId xmlns:a16="http://schemas.microsoft.com/office/drawing/2014/main" id="{304BD154-862A-3BF5-C520-EA8BEB159662}"/>
              </a:ext>
            </a:extLst>
          </p:cNvPr>
          <p:cNvPicPr>
            <a:picLocks noChangeAspect="1"/>
          </p:cNvPicPr>
          <p:nvPr/>
        </p:nvPicPr>
        <p:blipFill>
          <a:blip r:embed="rId6"/>
          <a:stretch>
            <a:fillRect/>
          </a:stretch>
        </p:blipFill>
        <p:spPr>
          <a:xfrm>
            <a:off x="237199" y="5580013"/>
            <a:ext cx="4286848" cy="2270705"/>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Tree>
    <p:extLst>
      <p:ext uri="{BB962C8B-B14F-4D97-AF65-F5344CB8AC3E}">
        <p14:creationId xmlns:p14="http://schemas.microsoft.com/office/powerpoint/2010/main" val="3315014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90747" y="666258"/>
            <a:ext cx="4292560" cy="338257"/>
          </a:xfrm>
          <a:prstGeom prst="rect">
            <a:avLst/>
          </a:prstGeom>
          <a:noFill/>
          <a:ln/>
        </p:spPr>
        <p:txBody>
          <a:bodyPr wrap="none" lIns="0" tIns="0" rIns="0" bIns="0" rtlCol="0" anchor="t"/>
          <a:lstStyle/>
          <a:p>
            <a:pPr marL="0" indent="0" algn="l">
              <a:lnSpc>
                <a:spcPts val="2650"/>
              </a:lnSpc>
              <a:buNone/>
            </a:pPr>
            <a:r>
              <a:rPr lang="en-US" sz="3900" dirty="0">
                <a:solidFill>
                  <a:srgbClr val="124E73"/>
                </a:solidFill>
                <a:latin typeface="MuseoModerno Medium" pitchFamily="34" charset="0"/>
                <a:ea typeface="MuseoModerno Medium" pitchFamily="34" charset="-122"/>
                <a:cs typeface="MuseoModerno Medium" pitchFamily="34" charset="-120"/>
              </a:rPr>
              <a:t>CI/CD : GitLab, Runner &amp; Railway</a:t>
            </a:r>
            <a:endParaRPr lang="en-US" sz="3900" dirty="0"/>
          </a:p>
        </p:txBody>
      </p:sp>
      <p:sp>
        <p:nvSpPr>
          <p:cNvPr id="3" name="Text 1"/>
          <p:cNvSpPr/>
          <p:nvPr/>
        </p:nvSpPr>
        <p:spPr>
          <a:xfrm>
            <a:off x="557305" y="1067443"/>
            <a:ext cx="8536900" cy="133707"/>
          </a:xfrm>
          <a:prstGeom prst="rect">
            <a:avLst/>
          </a:prstGeom>
          <a:noFill/>
          <a:ln/>
        </p:spPr>
        <p:txBody>
          <a:bodyPr wrap="none" lIns="0" tIns="0" rIns="0" bIns="0" rtlCol="0" anchor="t"/>
          <a:lstStyle/>
          <a:p>
            <a:pPr marL="0" indent="0" algn="l">
              <a:lnSpc>
                <a:spcPct val="150000"/>
              </a:lnSpc>
              <a:buNone/>
            </a:pPr>
            <a:r>
              <a:rPr lang="en-US" sz="2400" b="1" dirty="0">
                <a:solidFill>
                  <a:srgbClr val="2B4150"/>
                </a:solidFill>
                <a:latin typeface="Source Sans 3" pitchFamily="34" charset="0"/>
                <a:ea typeface="Source Sans 3" pitchFamily="34" charset="-122"/>
                <a:cs typeface="Source Sans 3" pitchFamily="34" charset="-120"/>
              </a:rPr>
              <a:t>L'automatisation du déploiement s'articule autour de deux axes </a:t>
            </a:r>
            <a:r>
              <a:rPr lang="en-US" sz="2400" b="1" dirty="0" err="1">
                <a:solidFill>
                  <a:srgbClr val="2B4150"/>
                </a:solidFill>
                <a:latin typeface="Source Sans 3" pitchFamily="34" charset="0"/>
                <a:ea typeface="Source Sans 3" pitchFamily="34" charset="-122"/>
                <a:cs typeface="Source Sans 3" pitchFamily="34" charset="-120"/>
              </a:rPr>
              <a:t>complémentaires</a:t>
            </a:r>
            <a:r>
              <a:rPr lang="en-US" sz="2400" b="1" dirty="0">
                <a:solidFill>
                  <a:srgbClr val="2B4150"/>
                </a:solidFill>
                <a:latin typeface="Source Sans 3" pitchFamily="34" charset="0"/>
                <a:ea typeface="Source Sans 3" pitchFamily="34" charset="-122"/>
                <a:cs typeface="Source Sans 3" pitchFamily="34" charset="-120"/>
              </a:rPr>
              <a:t> :</a:t>
            </a:r>
          </a:p>
          <a:p>
            <a:pPr marL="0" indent="0" algn="l">
              <a:lnSpc>
                <a:spcPct val="150000"/>
              </a:lnSpc>
              <a:buNone/>
            </a:pPr>
            <a:r>
              <a:rPr lang="en-US" sz="2400" b="1" dirty="0">
                <a:solidFill>
                  <a:srgbClr val="2B4150"/>
                </a:solidFill>
                <a:latin typeface="Source Sans 3" pitchFamily="34" charset="0"/>
                <a:ea typeface="Source Sans 3" pitchFamily="34" charset="-122"/>
                <a:cs typeface="Source Sans 3" pitchFamily="34" charset="-120"/>
              </a:rPr>
              <a:t> le pipeline GitLab CI pour les tests et la validation du code, et Railway pour le déploiement cloud simplifié.</a:t>
            </a:r>
            <a:endParaRPr lang="en-US" sz="2400" b="1" dirty="0"/>
          </a:p>
        </p:txBody>
      </p:sp>
      <p:sp>
        <p:nvSpPr>
          <p:cNvPr id="6" name="Text 4"/>
          <p:cNvSpPr/>
          <p:nvPr/>
        </p:nvSpPr>
        <p:spPr>
          <a:xfrm>
            <a:off x="947029" y="3416945"/>
            <a:ext cx="1889998" cy="169188"/>
          </a:xfrm>
          <a:prstGeom prst="rect">
            <a:avLst/>
          </a:prstGeom>
          <a:noFill/>
          <a:ln/>
        </p:spPr>
        <p:txBody>
          <a:bodyPr wrap="none" lIns="0" tIns="0" rIns="0" bIns="0" rtlCol="0" anchor="t"/>
          <a:lstStyle/>
          <a:p>
            <a:pPr marL="0" indent="0" algn="l">
              <a:lnSpc>
                <a:spcPts val="1300"/>
              </a:lnSpc>
              <a:buNone/>
            </a:pPr>
            <a:r>
              <a:rPr lang="en-US" sz="2800" b="1" dirty="0">
                <a:solidFill>
                  <a:srgbClr val="2B4150"/>
                </a:solidFill>
                <a:latin typeface="MuseoModerno Medium" pitchFamily="34" charset="0"/>
                <a:ea typeface="MuseoModerno Medium" pitchFamily="34" charset="-122"/>
                <a:cs typeface="MuseoModerno Medium" pitchFamily="34" charset="-120"/>
              </a:rPr>
              <a:t>GitLab CI — Pipeline de tests</a:t>
            </a:r>
            <a:endParaRPr lang="en-US" sz="2800" b="1" dirty="0"/>
          </a:p>
        </p:txBody>
      </p:sp>
      <p:sp>
        <p:nvSpPr>
          <p:cNvPr id="7" name="Text 5"/>
          <p:cNvSpPr/>
          <p:nvPr/>
        </p:nvSpPr>
        <p:spPr>
          <a:xfrm>
            <a:off x="948536" y="3715280"/>
            <a:ext cx="5156839" cy="1666132"/>
          </a:xfrm>
          <a:prstGeom prst="rect">
            <a:avLst/>
          </a:prstGeom>
          <a:noFill/>
          <a:ln/>
        </p:spPr>
        <p:txBody>
          <a:bodyPr wrap="square" lIns="0" tIns="0" rIns="0" bIns="0" rtlCol="0" anchor="t"/>
          <a:lstStyle/>
          <a:p>
            <a:pPr marL="0" indent="0" algn="l">
              <a:buNone/>
            </a:pPr>
            <a:r>
              <a:rPr lang="en-US" sz="2000" dirty="0">
                <a:solidFill>
                  <a:srgbClr val="2B4150"/>
                </a:solidFill>
                <a:latin typeface="Source Sans 3" pitchFamily="34" charset="0"/>
                <a:ea typeface="Source Sans 3" pitchFamily="34" charset="-122"/>
                <a:cs typeface="Source Sans 3" pitchFamily="34" charset="-120"/>
              </a:rPr>
              <a:t>Chaque </a:t>
            </a:r>
            <a:r>
              <a:rPr lang="en-US" sz="2000" dirty="0">
                <a:solidFill>
                  <a:srgbClr val="2B4150"/>
                </a:solidFill>
                <a:highlight>
                  <a:srgbClr val="F2EFE8"/>
                </a:highlight>
                <a:latin typeface="Consolas" pitchFamily="34" charset="0"/>
                <a:ea typeface="Consolas" pitchFamily="34" charset="-122"/>
                <a:cs typeface="Consolas" pitchFamily="34" charset="-120"/>
              </a:rPr>
              <a:t>git push</a:t>
            </a:r>
            <a:r>
              <a:rPr lang="en-US" sz="2000" dirty="0">
                <a:solidFill>
                  <a:srgbClr val="2B4150"/>
                </a:solidFill>
                <a:latin typeface="Source Sans 3" pitchFamily="34" charset="0"/>
                <a:ea typeface="Source Sans 3" pitchFamily="34" charset="-122"/>
                <a:cs typeface="Source Sans 3" pitchFamily="34" charset="-120"/>
              </a:rPr>
              <a:t> déclenche l'exécution de stages définis dans le fichier </a:t>
            </a:r>
            <a:r>
              <a:rPr lang="en-US" sz="2000" dirty="0">
                <a:solidFill>
                  <a:srgbClr val="2B4150"/>
                </a:solidFill>
                <a:highlight>
                  <a:srgbClr val="F2EFE8"/>
                </a:highlight>
                <a:latin typeface="Consolas" pitchFamily="34" charset="0"/>
                <a:ea typeface="Consolas" pitchFamily="34" charset="-122"/>
                <a:cs typeface="Consolas" pitchFamily="34" charset="-120"/>
              </a:rPr>
              <a:t>.gitlab-ci.yml</a:t>
            </a:r>
            <a:r>
              <a:rPr lang="en-US" sz="2000" dirty="0">
                <a:solidFill>
                  <a:srgbClr val="2B4150"/>
                </a:solidFill>
                <a:latin typeface="Source Sans 3" pitchFamily="34" charset="0"/>
                <a:ea typeface="Source Sans 3" pitchFamily="34" charset="-122"/>
                <a:cs typeface="Source Sans 3" pitchFamily="34" charset="-120"/>
              </a:rPr>
              <a:t>. Si un test échoue, le pipeline s'arrête — évitant ainsi de passer d'un service fonctionnel à une interruption de production. L'idée explorée : monter un conteneur en live à l'issue des tests pour valider les modifications en temps réel.</a:t>
            </a:r>
            <a:endParaRPr lang="en-US" sz="2000" dirty="0"/>
          </a:p>
        </p:txBody>
      </p:sp>
      <p:sp>
        <p:nvSpPr>
          <p:cNvPr id="14" name="Text 12"/>
          <p:cNvSpPr/>
          <p:nvPr/>
        </p:nvSpPr>
        <p:spPr>
          <a:xfrm>
            <a:off x="8068734" y="3344401"/>
            <a:ext cx="2558653" cy="169188"/>
          </a:xfrm>
          <a:prstGeom prst="rect">
            <a:avLst/>
          </a:prstGeom>
          <a:noFill/>
          <a:ln/>
        </p:spPr>
        <p:txBody>
          <a:bodyPr wrap="none" lIns="0" tIns="0" rIns="0" bIns="0" rtlCol="0" anchor="t"/>
          <a:lstStyle/>
          <a:p>
            <a:pPr marL="0" indent="0" algn="l">
              <a:lnSpc>
                <a:spcPts val="1300"/>
              </a:lnSpc>
              <a:buNone/>
            </a:pPr>
            <a:r>
              <a:rPr lang="en-US" sz="2800" b="1" dirty="0">
                <a:solidFill>
                  <a:srgbClr val="2B4150"/>
                </a:solidFill>
                <a:latin typeface="MuseoModerno Medium" pitchFamily="34" charset="0"/>
                <a:ea typeface="MuseoModerno Medium" pitchFamily="34" charset="-122"/>
                <a:cs typeface="MuseoModerno Medium" pitchFamily="34" charset="-120"/>
              </a:rPr>
              <a:t>Railway — </a:t>
            </a:r>
            <a:r>
              <a:rPr lang="en-US" sz="2800" b="1" dirty="0" err="1">
                <a:solidFill>
                  <a:srgbClr val="2B4150"/>
                </a:solidFill>
                <a:latin typeface="MuseoModerno Medium" pitchFamily="34" charset="0"/>
                <a:ea typeface="MuseoModerno Medium" pitchFamily="34" charset="-122"/>
                <a:cs typeface="MuseoModerno Medium" pitchFamily="34" charset="-120"/>
              </a:rPr>
              <a:t>Déploiement</a:t>
            </a:r>
            <a:r>
              <a:rPr lang="en-US" sz="2800" b="1" dirty="0">
                <a:solidFill>
                  <a:srgbClr val="2B4150"/>
                </a:solidFill>
                <a:latin typeface="MuseoModerno Medium" pitchFamily="34" charset="0"/>
                <a:ea typeface="MuseoModerno Medium" pitchFamily="34" charset="-122"/>
                <a:cs typeface="MuseoModerno Medium" pitchFamily="34" charset="-120"/>
              </a:rPr>
              <a:t> PaaS</a:t>
            </a:r>
            <a:endParaRPr lang="en-US" sz="2800" b="1" dirty="0"/>
          </a:p>
        </p:txBody>
      </p:sp>
      <p:sp>
        <p:nvSpPr>
          <p:cNvPr id="15" name="Text 13"/>
          <p:cNvSpPr/>
          <p:nvPr/>
        </p:nvSpPr>
        <p:spPr>
          <a:xfrm>
            <a:off x="8085385" y="3651106"/>
            <a:ext cx="5257129" cy="542449"/>
          </a:xfrm>
          <a:prstGeom prst="rect">
            <a:avLst/>
          </a:prstGeom>
          <a:noFill/>
          <a:ln/>
        </p:spPr>
        <p:txBody>
          <a:bodyPr wrap="square" lIns="0" tIns="0" rIns="0" bIns="0" rtlCol="0" anchor="t"/>
          <a:lstStyle/>
          <a:p>
            <a:pPr marL="0" indent="0" algn="l">
              <a:buNone/>
            </a:pPr>
            <a:r>
              <a:rPr lang="en-US" sz="2000" dirty="0">
                <a:solidFill>
                  <a:srgbClr val="2B4150"/>
                </a:solidFill>
                <a:latin typeface="Source Sans 3" pitchFamily="34" charset="0"/>
                <a:ea typeface="Source Sans 3" pitchFamily="34" charset="-122"/>
                <a:cs typeface="Source Sans 3" pitchFamily="34" charset="-120"/>
              </a:rPr>
              <a:t>À partir d'un </a:t>
            </a:r>
            <a:r>
              <a:rPr lang="en-US" sz="2000" dirty="0">
                <a:solidFill>
                  <a:srgbClr val="2B4150"/>
                </a:solidFill>
                <a:highlight>
                  <a:srgbClr val="F2EFE8"/>
                </a:highlight>
                <a:latin typeface="Consolas" pitchFamily="34" charset="0"/>
                <a:ea typeface="Consolas" pitchFamily="34" charset="-122"/>
                <a:cs typeface="Consolas" pitchFamily="34" charset="-120"/>
              </a:rPr>
              <a:t>Dockerfile</a:t>
            </a:r>
            <a:r>
              <a:rPr lang="en-US" sz="2000" dirty="0">
                <a:solidFill>
                  <a:srgbClr val="2B4150"/>
                </a:solidFill>
                <a:latin typeface="Source Sans 3" pitchFamily="34" charset="0"/>
                <a:ea typeface="Source Sans 3" pitchFamily="34" charset="-122"/>
                <a:cs typeface="Source Sans 3" pitchFamily="34" charset="-120"/>
              </a:rPr>
              <a:t> et d'une branche GitHub, Railway met en production l'application tout en effectuant des tests préliminaires. Il offre un FQDN propre, des métriques serveur détaillées, l'historique des commits pour le rollback, et une interface </a:t>
            </a:r>
            <a:r>
              <a:rPr lang="en-US" sz="2000" b="1" dirty="0">
                <a:solidFill>
                  <a:srgbClr val="2B4150"/>
                </a:solidFill>
                <a:latin typeface="Source Sans 3" pitchFamily="34" charset="0"/>
                <a:ea typeface="Source Sans 3" pitchFamily="34" charset="-122"/>
                <a:cs typeface="Source Sans 3" pitchFamily="34" charset="-120"/>
              </a:rPr>
              <a:t>très admin-friendly</a:t>
            </a:r>
            <a:r>
              <a:rPr lang="en-US" sz="2000" dirty="0">
                <a:solidFill>
                  <a:srgbClr val="2B4150"/>
                </a:solidFill>
                <a:latin typeface="Source Sans 3" pitchFamily="34" charset="0"/>
                <a:ea typeface="Source Sans 3" pitchFamily="34" charset="-122"/>
                <a:cs typeface="Source Sans 3" pitchFamily="34" charset="-120"/>
              </a:rPr>
              <a:t>. Idéal pour les petits besoins avec un coût maîtrisé.</a:t>
            </a:r>
            <a:endParaRPr lang="en-US" sz="2000" dirty="0"/>
          </a:p>
        </p:txBody>
      </p:sp>
      <p:sp>
        <p:nvSpPr>
          <p:cNvPr id="25" name="Text 22"/>
          <p:cNvSpPr/>
          <p:nvPr/>
        </p:nvSpPr>
        <p:spPr>
          <a:xfrm>
            <a:off x="3046690" y="7287458"/>
            <a:ext cx="8536900" cy="275034"/>
          </a:xfrm>
          <a:prstGeom prst="rect">
            <a:avLst/>
          </a:prstGeom>
          <a:noFill/>
          <a:ln/>
        </p:spPr>
        <p:txBody>
          <a:bodyPr wrap="square" lIns="0" tIns="0" rIns="0" bIns="0" rtlCol="0" anchor="t"/>
          <a:lstStyle/>
          <a:p>
            <a:pPr marL="0" indent="0" algn="l">
              <a:lnSpc>
                <a:spcPts val="1050"/>
              </a:lnSpc>
              <a:buNone/>
            </a:pPr>
            <a:endParaRPr lang="en-US" sz="850" dirty="0"/>
          </a:p>
        </p:txBody>
      </p:sp>
      <p:pic>
        <p:nvPicPr>
          <p:cNvPr id="27" name="Image 26">
            <a:extLst>
              <a:ext uri="{FF2B5EF4-FFF2-40B4-BE49-F238E27FC236}">
                <a16:creationId xmlns:a16="http://schemas.microsoft.com/office/drawing/2014/main" id="{2B223893-E834-1619-9A6C-9146BAC6F02A}"/>
              </a:ext>
            </a:extLst>
          </p:cNvPr>
          <p:cNvPicPr>
            <a:picLocks noChangeAspect="1"/>
          </p:cNvPicPr>
          <p:nvPr/>
        </p:nvPicPr>
        <p:blipFill>
          <a:blip r:embed="rId3"/>
          <a:stretch>
            <a:fillRect/>
          </a:stretch>
        </p:blipFill>
        <p:spPr>
          <a:xfrm>
            <a:off x="10629342" y="7424975"/>
            <a:ext cx="4001058" cy="790685"/>
          </a:xfrm>
          <a:prstGeom prst="rect">
            <a:avLst/>
          </a:prstGeom>
        </p:spPr>
      </p:pic>
    </p:spTree>
    <p:extLst>
      <p:ext uri="{BB962C8B-B14F-4D97-AF65-F5344CB8AC3E}">
        <p14:creationId xmlns:p14="http://schemas.microsoft.com/office/powerpoint/2010/main" val="1955245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7" name="Image 26">
            <a:extLst>
              <a:ext uri="{FF2B5EF4-FFF2-40B4-BE49-F238E27FC236}">
                <a16:creationId xmlns:a16="http://schemas.microsoft.com/office/drawing/2014/main" id="{2B223893-E834-1619-9A6C-9146BAC6F02A}"/>
              </a:ext>
            </a:extLst>
          </p:cNvPr>
          <p:cNvPicPr>
            <a:picLocks noChangeAspect="1"/>
          </p:cNvPicPr>
          <p:nvPr/>
        </p:nvPicPr>
        <p:blipFill>
          <a:blip r:embed="rId3"/>
          <a:stretch>
            <a:fillRect/>
          </a:stretch>
        </p:blipFill>
        <p:spPr>
          <a:xfrm>
            <a:off x="10629342" y="7424975"/>
            <a:ext cx="4001058" cy="790685"/>
          </a:xfrm>
          <a:prstGeom prst="rect">
            <a:avLst/>
          </a:prstGeom>
        </p:spPr>
      </p:pic>
      <p:sp>
        <p:nvSpPr>
          <p:cNvPr id="2" name="Text 0"/>
          <p:cNvSpPr/>
          <p:nvPr/>
        </p:nvSpPr>
        <p:spPr>
          <a:xfrm>
            <a:off x="315333" y="267129"/>
            <a:ext cx="4292560" cy="338257"/>
          </a:xfrm>
          <a:prstGeom prst="rect">
            <a:avLst/>
          </a:prstGeom>
          <a:noFill/>
          <a:ln/>
        </p:spPr>
        <p:txBody>
          <a:bodyPr wrap="none" lIns="0" tIns="0" rIns="0" bIns="0" rtlCol="0" anchor="t"/>
          <a:lstStyle/>
          <a:p>
            <a:pPr marL="0" indent="0" algn="l">
              <a:lnSpc>
                <a:spcPts val="2650"/>
              </a:lnSpc>
              <a:buNone/>
            </a:pPr>
            <a:r>
              <a:rPr lang="en-US" sz="2900" dirty="0">
                <a:solidFill>
                  <a:srgbClr val="124E73"/>
                </a:solidFill>
                <a:latin typeface="MuseoModerno Medium" pitchFamily="34" charset="0"/>
                <a:ea typeface="MuseoModerno Medium" pitchFamily="34" charset="-122"/>
                <a:cs typeface="MuseoModerno Medium" pitchFamily="34" charset="-120"/>
              </a:rPr>
              <a:t>CI/CD : GitLab, Runner &amp; Railway</a:t>
            </a:r>
            <a:endParaRPr lang="en-US" sz="2900" dirty="0"/>
          </a:p>
        </p:txBody>
      </p:sp>
      <p:sp>
        <p:nvSpPr>
          <p:cNvPr id="3" name="Text 1"/>
          <p:cNvSpPr/>
          <p:nvPr/>
        </p:nvSpPr>
        <p:spPr>
          <a:xfrm>
            <a:off x="298073" y="530423"/>
            <a:ext cx="8536900" cy="133707"/>
          </a:xfrm>
          <a:prstGeom prst="rect">
            <a:avLst/>
          </a:prstGeom>
          <a:noFill/>
          <a:ln/>
        </p:spPr>
        <p:txBody>
          <a:bodyPr wrap="none" lIns="0" tIns="0" rIns="0" bIns="0" rtlCol="0" anchor="t"/>
          <a:lstStyle/>
          <a:p>
            <a:pPr marL="0" indent="0" algn="l">
              <a:buNone/>
            </a:pPr>
            <a:endParaRPr lang="en-US" sz="2000" b="1" dirty="0"/>
          </a:p>
        </p:txBody>
      </p:sp>
      <p:sp>
        <p:nvSpPr>
          <p:cNvPr id="7" name="Text 5"/>
          <p:cNvSpPr/>
          <p:nvPr/>
        </p:nvSpPr>
        <p:spPr>
          <a:xfrm>
            <a:off x="374277" y="1837759"/>
            <a:ext cx="5156839" cy="1666132"/>
          </a:xfrm>
          <a:prstGeom prst="rect">
            <a:avLst/>
          </a:prstGeom>
          <a:noFill/>
          <a:ln/>
        </p:spPr>
        <p:txBody>
          <a:bodyPr wrap="square" lIns="0" tIns="0" rIns="0" bIns="0" rtlCol="0" anchor="t"/>
          <a:lstStyle/>
          <a:p>
            <a:pPr marL="0" indent="0" algn="l">
              <a:buNone/>
            </a:pPr>
            <a:endParaRPr lang="en-US" sz="2000" dirty="0"/>
          </a:p>
        </p:txBody>
      </p:sp>
      <p:sp>
        <p:nvSpPr>
          <p:cNvPr id="10" name="Text 8"/>
          <p:cNvSpPr/>
          <p:nvPr/>
        </p:nvSpPr>
        <p:spPr>
          <a:xfrm>
            <a:off x="225298" y="997162"/>
            <a:ext cx="1907977" cy="169188"/>
          </a:xfrm>
          <a:prstGeom prst="rect">
            <a:avLst/>
          </a:prstGeom>
          <a:noFill/>
          <a:ln/>
        </p:spPr>
        <p:txBody>
          <a:bodyPr wrap="none" lIns="0" tIns="0" rIns="0" bIns="0" rtlCol="0" anchor="t"/>
          <a:lstStyle/>
          <a:p>
            <a:pPr marL="0" indent="0" algn="l">
              <a:lnSpc>
                <a:spcPts val="1300"/>
              </a:lnSpc>
              <a:buNone/>
            </a:pPr>
            <a:r>
              <a:rPr lang="en-US" sz="2800" dirty="0">
                <a:solidFill>
                  <a:srgbClr val="2B4150"/>
                </a:solidFill>
                <a:latin typeface="MuseoModerno Medium" pitchFamily="34" charset="0"/>
                <a:ea typeface="MuseoModerno Medium" pitchFamily="34" charset="-122"/>
                <a:cs typeface="MuseoModerno Medium" pitchFamily="34" charset="-120"/>
              </a:rPr>
              <a:t>Le Runner &amp; Docker-in-Docker</a:t>
            </a:r>
            <a:endParaRPr lang="en-US" sz="2800" dirty="0"/>
          </a:p>
        </p:txBody>
      </p:sp>
      <p:sp>
        <p:nvSpPr>
          <p:cNvPr id="11" name="Text 9"/>
          <p:cNvSpPr/>
          <p:nvPr/>
        </p:nvSpPr>
        <p:spPr>
          <a:xfrm>
            <a:off x="225298" y="1335539"/>
            <a:ext cx="13206217" cy="668536"/>
          </a:xfrm>
          <a:prstGeom prst="rect">
            <a:avLst/>
          </a:prstGeom>
          <a:noFill/>
          <a:ln/>
        </p:spPr>
        <p:txBody>
          <a:bodyPr wrap="square" lIns="0" tIns="0" rIns="0" bIns="0" rtlCol="0" anchor="t"/>
          <a:lstStyle/>
          <a:p>
            <a:pPr marL="0" indent="0" algn="l">
              <a:buNone/>
            </a:pPr>
            <a:r>
              <a:rPr lang="en-US" sz="2000" dirty="0">
                <a:solidFill>
                  <a:srgbClr val="2B4150"/>
                </a:solidFill>
                <a:latin typeface="Source Sans 3" pitchFamily="34" charset="0"/>
                <a:ea typeface="Source Sans 3" pitchFamily="34" charset="-122"/>
                <a:cs typeface="Source Sans 3" pitchFamily="34" charset="-120"/>
              </a:rPr>
              <a:t>Certains stages nécessitent un Runner auto-hébergé. La complexité surgit avec le service </a:t>
            </a:r>
            <a:r>
              <a:rPr lang="en-US" sz="2000" b="1" dirty="0">
                <a:solidFill>
                  <a:srgbClr val="2B4150"/>
                </a:solidFill>
                <a:latin typeface="Source Sans 3" pitchFamily="34" charset="0"/>
                <a:ea typeface="Source Sans 3" pitchFamily="34" charset="-122"/>
                <a:cs typeface="Source Sans 3" pitchFamily="34" charset="-120"/>
              </a:rPr>
              <a:t>Docker-in-Docker</a:t>
            </a:r>
            <a:r>
              <a:rPr lang="en-US" sz="2000" dirty="0">
                <a:solidFill>
                  <a:srgbClr val="2B4150"/>
                </a:solidFill>
                <a:latin typeface="Source Sans 3" pitchFamily="34" charset="0"/>
                <a:ea typeface="Source Sans 3" pitchFamily="34" charset="-122"/>
                <a:cs typeface="Source Sans 3" pitchFamily="34" charset="-120"/>
              </a:rPr>
              <a:t> : le Runner exécute les tests dans un conteneur qui se monte, effectue les tests, puis se démonte. Monter un conteneur dans un conteneur — une véritable « inception ». La solution de déploiement automatique en production via cette méthode n'a pas abouti, mais l'expérience acquise est précieuse.</a:t>
            </a:r>
            <a:endParaRPr lang="en-US" sz="2000" dirty="0"/>
          </a:p>
        </p:txBody>
      </p:sp>
      <p:sp>
        <p:nvSpPr>
          <p:cNvPr id="18" name="Text 16"/>
          <p:cNvSpPr/>
          <p:nvPr/>
        </p:nvSpPr>
        <p:spPr>
          <a:xfrm>
            <a:off x="225298" y="3162483"/>
            <a:ext cx="2642354" cy="169188"/>
          </a:xfrm>
          <a:prstGeom prst="rect">
            <a:avLst/>
          </a:prstGeom>
          <a:noFill/>
          <a:ln/>
        </p:spPr>
        <p:txBody>
          <a:bodyPr wrap="none" lIns="0" tIns="0" rIns="0" bIns="0" rtlCol="0" anchor="t"/>
          <a:lstStyle/>
          <a:p>
            <a:pPr marL="0" indent="0" algn="l">
              <a:lnSpc>
                <a:spcPts val="1300"/>
              </a:lnSpc>
              <a:buNone/>
            </a:pPr>
            <a:r>
              <a:rPr lang="en-US" sz="2800" dirty="0">
                <a:solidFill>
                  <a:srgbClr val="2B4150"/>
                </a:solidFill>
                <a:latin typeface="MuseoModerno Medium" pitchFamily="34" charset="0"/>
                <a:ea typeface="MuseoModerno Medium" pitchFamily="34" charset="-122"/>
                <a:cs typeface="MuseoModerno Medium" pitchFamily="34" charset="-120"/>
              </a:rPr>
              <a:t>Terraform + Ansible — Le duo production</a:t>
            </a:r>
            <a:endParaRPr lang="en-US" sz="2800" dirty="0"/>
          </a:p>
        </p:txBody>
      </p:sp>
      <p:sp>
        <p:nvSpPr>
          <p:cNvPr id="19" name="Text 17"/>
          <p:cNvSpPr/>
          <p:nvPr/>
        </p:nvSpPr>
        <p:spPr>
          <a:xfrm>
            <a:off x="319138" y="3487863"/>
            <a:ext cx="5083179" cy="550069"/>
          </a:xfrm>
          <a:prstGeom prst="rect">
            <a:avLst/>
          </a:prstGeom>
          <a:noFill/>
          <a:ln/>
        </p:spPr>
        <p:txBody>
          <a:bodyPr wrap="square" lIns="0" tIns="0" rIns="0" bIns="0" rtlCol="0" anchor="t"/>
          <a:lstStyle/>
          <a:p>
            <a:pPr marL="0" indent="0" algn="l">
              <a:buNone/>
            </a:pPr>
            <a:r>
              <a:rPr lang="en-US" sz="2000" dirty="0">
                <a:solidFill>
                  <a:srgbClr val="2B4150"/>
                </a:solidFill>
                <a:latin typeface="Source Sans 3" pitchFamily="34" charset="0"/>
                <a:ea typeface="Source Sans 3" pitchFamily="34" charset="-122"/>
                <a:cs typeface="Source Sans 3" pitchFamily="34" charset="-120"/>
              </a:rPr>
              <a:t>La combinaison finale retenue : </a:t>
            </a:r>
            <a:r>
              <a:rPr lang="en-US" sz="2000" b="1" dirty="0">
                <a:solidFill>
                  <a:srgbClr val="2B4150"/>
                </a:solidFill>
                <a:latin typeface="Source Sans 3" pitchFamily="34" charset="0"/>
                <a:ea typeface="Source Sans 3" pitchFamily="34" charset="-122"/>
                <a:cs typeface="Source Sans 3" pitchFamily="34" charset="-120"/>
              </a:rPr>
              <a:t>Terraform crée l'infrastructure</a:t>
            </a:r>
            <a:r>
              <a:rPr lang="en-US" sz="2000" dirty="0">
                <a:solidFill>
                  <a:srgbClr val="2B4150"/>
                </a:solidFill>
                <a:latin typeface="Source Sans 3" pitchFamily="34" charset="0"/>
                <a:ea typeface="Source Sans 3" pitchFamily="34" charset="-122"/>
                <a:cs typeface="Source Sans 3" pitchFamily="34" charset="-120"/>
              </a:rPr>
              <a:t>, </a:t>
            </a:r>
            <a:r>
              <a:rPr lang="en-US" sz="2000" b="1" dirty="0">
                <a:solidFill>
                  <a:srgbClr val="2B4150"/>
                </a:solidFill>
                <a:latin typeface="Source Sans 3" pitchFamily="34" charset="0"/>
                <a:ea typeface="Source Sans 3" pitchFamily="34" charset="-122"/>
                <a:cs typeface="Source Sans 3" pitchFamily="34" charset="-120"/>
              </a:rPr>
              <a:t>Ansible la configure</a:t>
            </a:r>
            <a:r>
              <a:rPr lang="en-US" sz="2000" dirty="0">
                <a:solidFill>
                  <a:srgbClr val="2B4150"/>
                </a:solidFill>
                <a:latin typeface="Source Sans 3" pitchFamily="34" charset="0"/>
                <a:ea typeface="Source Sans 3" pitchFamily="34" charset="-122"/>
                <a:cs typeface="Source Sans 3" pitchFamily="34" charset="-120"/>
              </a:rPr>
              <a:t>. Avec une poignée de commandes (</a:t>
            </a:r>
            <a:r>
              <a:rPr lang="en-US" sz="2000" dirty="0">
                <a:solidFill>
                  <a:srgbClr val="2B4150"/>
                </a:solidFill>
                <a:highlight>
                  <a:srgbClr val="F2EFE8"/>
                </a:highlight>
                <a:latin typeface="Consolas" pitchFamily="34" charset="0"/>
                <a:ea typeface="Consolas" pitchFamily="34" charset="-122"/>
                <a:cs typeface="Consolas" pitchFamily="34" charset="-120"/>
              </a:rPr>
              <a:t>git push</a:t>
            </a:r>
            <a:r>
              <a:rPr lang="en-US" sz="2000" dirty="0">
                <a:solidFill>
                  <a:srgbClr val="2B4150"/>
                </a:solidFill>
                <a:latin typeface="Source Sans 3" pitchFamily="34" charset="0"/>
                <a:ea typeface="Source Sans 3" pitchFamily="34" charset="-122"/>
                <a:cs typeface="Source Sans 3" pitchFamily="34" charset="-120"/>
              </a:rPr>
              <a:t>, </a:t>
            </a:r>
            <a:r>
              <a:rPr lang="en-US" sz="2000" dirty="0">
                <a:solidFill>
                  <a:srgbClr val="2B4150"/>
                </a:solidFill>
                <a:highlight>
                  <a:srgbClr val="F2EFE8"/>
                </a:highlight>
                <a:latin typeface="Consolas" pitchFamily="34" charset="0"/>
                <a:ea typeface="Consolas" pitchFamily="34" charset="-122"/>
                <a:cs typeface="Consolas" pitchFamily="34" charset="-120"/>
              </a:rPr>
              <a:t>gcloud auth</a:t>
            </a:r>
            <a:r>
              <a:rPr lang="en-US" sz="2000" dirty="0">
                <a:solidFill>
                  <a:srgbClr val="2B4150"/>
                </a:solidFill>
                <a:latin typeface="Source Sans 3" pitchFamily="34" charset="0"/>
                <a:ea typeface="Source Sans 3" pitchFamily="34" charset="-122"/>
                <a:cs typeface="Source Sans 3" pitchFamily="34" charset="-120"/>
              </a:rPr>
              <a:t>, </a:t>
            </a:r>
            <a:r>
              <a:rPr lang="en-US" sz="2000" dirty="0">
                <a:solidFill>
                  <a:srgbClr val="2B4150"/>
                </a:solidFill>
                <a:highlight>
                  <a:srgbClr val="F2EFE8"/>
                </a:highlight>
                <a:latin typeface="Consolas" pitchFamily="34" charset="0"/>
                <a:ea typeface="Consolas" pitchFamily="34" charset="-122"/>
                <a:cs typeface="Consolas" pitchFamily="34" charset="-120"/>
              </a:rPr>
              <a:t>terraform apply</a:t>
            </a:r>
            <a:r>
              <a:rPr lang="en-US" sz="2000" dirty="0">
                <a:solidFill>
                  <a:srgbClr val="2B4150"/>
                </a:solidFill>
                <a:latin typeface="Source Sans 3" pitchFamily="34" charset="0"/>
                <a:ea typeface="Source Sans 3" pitchFamily="34" charset="-122"/>
                <a:cs typeface="Source Sans 3" pitchFamily="34" charset="-120"/>
              </a:rPr>
              <a:t>, </a:t>
            </a:r>
            <a:r>
              <a:rPr lang="en-US" sz="2000" dirty="0">
                <a:solidFill>
                  <a:srgbClr val="2B4150"/>
                </a:solidFill>
                <a:highlight>
                  <a:srgbClr val="F2EFE8"/>
                </a:highlight>
                <a:latin typeface="Consolas" pitchFamily="34" charset="0"/>
                <a:ea typeface="Consolas" pitchFamily="34" charset="-122"/>
                <a:cs typeface="Consolas" pitchFamily="34" charset="-120"/>
              </a:rPr>
              <a:t>ansible-playbook…</a:t>
            </a:r>
            <a:r>
              <a:rPr lang="en-US" sz="2000" dirty="0">
                <a:solidFill>
                  <a:srgbClr val="2B4150"/>
                </a:solidFill>
                <a:latin typeface="Source Sans 3" pitchFamily="34" charset="0"/>
                <a:ea typeface="Source Sans 3" pitchFamily="34" charset="-122"/>
                <a:cs typeface="Source Sans 3" pitchFamily="34" charset="-120"/>
              </a:rPr>
              <a:t>), une infrastructure complète se déploie plus rapidement qu'à la main — et de manière reproductible.</a:t>
            </a:r>
            <a:endParaRPr lang="en-US" sz="2000" dirty="0"/>
          </a:p>
        </p:txBody>
      </p:sp>
      <p:pic>
        <p:nvPicPr>
          <p:cNvPr id="20" name="Image 0" descr="preencoded.png"/>
          <p:cNvPicPr>
            <a:picLocks noChangeAspect="1"/>
          </p:cNvPicPr>
          <p:nvPr/>
        </p:nvPicPr>
        <p:blipFill>
          <a:blip r:embed="rId4"/>
          <a:stretch>
            <a:fillRect/>
          </a:stretch>
        </p:blipFill>
        <p:spPr>
          <a:xfrm>
            <a:off x="5913425" y="3301354"/>
            <a:ext cx="8501657" cy="3666079"/>
          </a:xfrm>
          <a:prstGeom prst="rect">
            <a:avLst/>
          </a:prstGeom>
        </p:spPr>
      </p:pic>
      <p:sp>
        <p:nvSpPr>
          <p:cNvPr id="21" name="Text 18"/>
          <p:cNvSpPr/>
          <p:nvPr/>
        </p:nvSpPr>
        <p:spPr>
          <a:xfrm>
            <a:off x="6231296" y="6264339"/>
            <a:ext cx="1920754" cy="240095"/>
          </a:xfrm>
          <a:prstGeom prst="rect">
            <a:avLst/>
          </a:prstGeom>
          <a:noFill/>
          <a:ln/>
        </p:spPr>
        <p:txBody>
          <a:bodyPr wrap="none" lIns="0" tIns="0" rIns="0" bIns="0" rtlCol="0" anchor="t"/>
          <a:lstStyle/>
          <a:p>
            <a:pPr marL="0" indent="0" algn="l">
              <a:lnSpc>
                <a:spcPts val="1850"/>
              </a:lnSpc>
              <a:buNone/>
            </a:pPr>
            <a:r>
              <a:rPr lang="en-US" sz="1500" dirty="0">
                <a:solidFill>
                  <a:srgbClr val="FFFFFF"/>
                </a:solidFill>
                <a:latin typeface="MuseoModerno Medium" pitchFamily="34" charset="0"/>
                <a:ea typeface="MuseoModerno Medium" pitchFamily="34" charset="-122"/>
                <a:cs typeface="MuseoModerno Medium" pitchFamily="34" charset="-120"/>
              </a:rPr>
              <a:t>Déploiement</a:t>
            </a:r>
            <a:endParaRPr lang="en-US" sz="1500" dirty="0"/>
          </a:p>
        </p:txBody>
      </p:sp>
      <p:sp>
        <p:nvSpPr>
          <p:cNvPr id="22" name="Text 19"/>
          <p:cNvSpPr/>
          <p:nvPr/>
        </p:nvSpPr>
        <p:spPr>
          <a:xfrm>
            <a:off x="6354763" y="5440165"/>
            <a:ext cx="1920754" cy="240095"/>
          </a:xfrm>
          <a:prstGeom prst="rect">
            <a:avLst/>
          </a:prstGeom>
          <a:noFill/>
          <a:ln/>
        </p:spPr>
        <p:txBody>
          <a:bodyPr wrap="none" lIns="0" tIns="0" rIns="0" bIns="0" rtlCol="0" anchor="t"/>
          <a:lstStyle/>
          <a:p>
            <a:pPr marL="0" indent="0" algn="l">
              <a:lnSpc>
                <a:spcPts val="1850"/>
              </a:lnSpc>
              <a:buNone/>
            </a:pPr>
            <a:r>
              <a:rPr lang="en-US" sz="1500" dirty="0">
                <a:solidFill>
                  <a:srgbClr val="FFFFFF"/>
                </a:solidFill>
                <a:latin typeface="MuseoModerno Medium" pitchFamily="34" charset="0"/>
                <a:ea typeface="MuseoModerno Medium" pitchFamily="34" charset="-122"/>
                <a:cs typeface="MuseoModerno Medium" pitchFamily="34" charset="-120"/>
              </a:rPr>
              <a:t>Build</a:t>
            </a:r>
            <a:endParaRPr lang="en-US" sz="1500" dirty="0"/>
          </a:p>
        </p:txBody>
      </p:sp>
      <p:sp>
        <p:nvSpPr>
          <p:cNvPr id="23" name="Text 20"/>
          <p:cNvSpPr/>
          <p:nvPr/>
        </p:nvSpPr>
        <p:spPr>
          <a:xfrm>
            <a:off x="6354763" y="4613686"/>
            <a:ext cx="1920754" cy="240095"/>
          </a:xfrm>
          <a:prstGeom prst="rect">
            <a:avLst/>
          </a:prstGeom>
          <a:noFill/>
          <a:ln/>
        </p:spPr>
        <p:txBody>
          <a:bodyPr wrap="none" lIns="0" tIns="0" rIns="0" bIns="0" rtlCol="0" anchor="t"/>
          <a:lstStyle/>
          <a:p>
            <a:pPr marL="0" indent="0" algn="l">
              <a:lnSpc>
                <a:spcPts val="1850"/>
              </a:lnSpc>
              <a:buNone/>
            </a:pPr>
            <a:r>
              <a:rPr lang="en-US" sz="1500" dirty="0">
                <a:solidFill>
                  <a:srgbClr val="FFFFFF"/>
                </a:solidFill>
                <a:latin typeface="MuseoModerno Medium" pitchFamily="34" charset="0"/>
                <a:ea typeface="MuseoModerno Medium" pitchFamily="34" charset="-122"/>
                <a:cs typeface="MuseoModerno Medium" pitchFamily="34" charset="-120"/>
              </a:rPr>
              <a:t>Tests</a:t>
            </a:r>
            <a:endParaRPr lang="en-US" sz="1500" dirty="0"/>
          </a:p>
        </p:txBody>
      </p:sp>
      <p:sp>
        <p:nvSpPr>
          <p:cNvPr id="24" name="Text 21"/>
          <p:cNvSpPr/>
          <p:nvPr/>
        </p:nvSpPr>
        <p:spPr>
          <a:xfrm>
            <a:off x="6354763" y="3785877"/>
            <a:ext cx="1920754" cy="240094"/>
          </a:xfrm>
          <a:prstGeom prst="rect">
            <a:avLst/>
          </a:prstGeom>
          <a:noFill/>
          <a:ln/>
        </p:spPr>
        <p:txBody>
          <a:bodyPr wrap="none" lIns="0" tIns="0" rIns="0" bIns="0" rtlCol="0" anchor="t"/>
          <a:lstStyle/>
          <a:p>
            <a:pPr marL="0" indent="0" algn="l">
              <a:lnSpc>
                <a:spcPts val="1850"/>
              </a:lnSpc>
              <a:buNone/>
            </a:pPr>
            <a:r>
              <a:rPr lang="en-US" sz="1500" dirty="0">
                <a:solidFill>
                  <a:srgbClr val="FFFFFF"/>
                </a:solidFill>
                <a:latin typeface="MuseoModerno Medium" pitchFamily="34" charset="0"/>
                <a:ea typeface="MuseoModerno Medium" pitchFamily="34" charset="-122"/>
                <a:cs typeface="MuseoModerno Medium" pitchFamily="34" charset="-120"/>
              </a:rPr>
              <a:t>Code</a:t>
            </a:r>
            <a:endParaRPr lang="en-US" sz="1500" dirty="0"/>
          </a:p>
        </p:txBody>
      </p:sp>
      <p:sp>
        <p:nvSpPr>
          <p:cNvPr id="25" name="Text 22"/>
          <p:cNvSpPr/>
          <p:nvPr/>
        </p:nvSpPr>
        <p:spPr>
          <a:xfrm>
            <a:off x="374277" y="7241331"/>
            <a:ext cx="13371444" cy="428812"/>
          </a:xfrm>
          <a:prstGeom prst="rect">
            <a:avLst/>
          </a:prstGeom>
          <a:noFill/>
          <a:ln/>
        </p:spPr>
        <p:txBody>
          <a:bodyPr wrap="square" lIns="0" tIns="0" rIns="0" bIns="0" rtlCol="0" anchor="t"/>
          <a:lstStyle/>
          <a:p>
            <a:pPr marL="0" indent="0" algn="l">
              <a:buNone/>
            </a:pPr>
            <a:r>
              <a:rPr lang="en-US" sz="2400" dirty="0">
                <a:solidFill>
                  <a:srgbClr val="2B4150"/>
                </a:solidFill>
                <a:latin typeface="Source Sans 3" pitchFamily="34" charset="0"/>
                <a:ea typeface="Source Sans 3" pitchFamily="34" charset="-122"/>
                <a:cs typeface="Source Sans 3" pitchFamily="34" charset="-120"/>
              </a:rPr>
              <a:t>Ce pipeline illustre la philosophie DevOps : chaque étape est automatisée, tracée et reproductible. Un fichier </a:t>
            </a:r>
            <a:r>
              <a:rPr lang="en-US" sz="2400" dirty="0">
                <a:solidFill>
                  <a:srgbClr val="2B4150"/>
                </a:solidFill>
                <a:highlight>
                  <a:srgbClr val="F2EFE8"/>
                </a:highlight>
                <a:latin typeface="Consolas" pitchFamily="34" charset="0"/>
                <a:ea typeface="Consolas" pitchFamily="34" charset="-122"/>
                <a:cs typeface="Consolas" pitchFamily="34" charset="-120"/>
              </a:rPr>
              <a:t>gitlab-ci.yml</a:t>
            </a:r>
            <a:r>
              <a:rPr lang="en-US" sz="2400" dirty="0">
                <a:solidFill>
                  <a:srgbClr val="2B4150"/>
                </a:solidFill>
                <a:latin typeface="Source Sans 3" pitchFamily="34" charset="0"/>
                <a:ea typeface="Source Sans 3" pitchFamily="34" charset="-122"/>
                <a:cs typeface="Source Sans 3" pitchFamily="34" charset="-120"/>
              </a:rPr>
              <a:t> bien configuré est le chef d'orchestre qui coordonne l'ensemble du processus de livraison.</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387298"/>
            <a:ext cx="5844064" cy="620078"/>
          </a:xfrm>
          <a:prstGeom prst="rect">
            <a:avLst/>
          </a:prstGeom>
          <a:noFill/>
          <a:ln/>
        </p:spPr>
        <p:txBody>
          <a:bodyPr wrap="none" lIns="0" tIns="0" rIns="0" bIns="0" rtlCol="0" anchor="t"/>
          <a:lstStyle/>
          <a:p>
            <a:pPr marL="0" indent="0" algn="l">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Sécuriser l'Infrastructure</a:t>
            </a:r>
            <a:endParaRPr lang="en-US" sz="3900" dirty="0"/>
          </a:p>
        </p:txBody>
      </p:sp>
      <p:sp>
        <p:nvSpPr>
          <p:cNvPr id="3" name="Text 1"/>
          <p:cNvSpPr/>
          <p:nvPr/>
        </p:nvSpPr>
        <p:spPr>
          <a:xfrm>
            <a:off x="793790" y="1126438"/>
            <a:ext cx="13042821" cy="635079"/>
          </a:xfrm>
          <a:prstGeom prst="rect">
            <a:avLst/>
          </a:prstGeom>
          <a:noFill/>
          <a:ln/>
        </p:spPr>
        <p:txBody>
          <a:bodyPr wrap="square" lIns="0" tIns="0" rIns="0" bIns="0" rtlCol="0" anchor="t"/>
          <a:lstStyle/>
          <a:p>
            <a:pPr marL="0" indent="0" algn="l">
              <a:lnSpc>
                <a:spcPts val="2500"/>
              </a:lnSpc>
              <a:buNone/>
            </a:pPr>
            <a:r>
              <a:rPr lang="en-US" sz="2000" dirty="0">
                <a:solidFill>
                  <a:srgbClr val="2B4150"/>
                </a:solidFill>
                <a:latin typeface="Source Sans 3" pitchFamily="34" charset="0"/>
                <a:ea typeface="Source Sans 3" pitchFamily="34" charset="-122"/>
                <a:cs typeface="Source Sans 3" pitchFamily="34" charset="-120"/>
              </a:rPr>
              <a:t>Même pour une application de petite taille, la sécurité est une préoccupation constante. La simplicité de l'application (pas de base de données, pas d'authentification complexe) réduit la surface d'attaque — mais ne dispense pas d'une bonne hygiène d'administration.</a:t>
            </a:r>
            <a:endParaRPr lang="en-US" sz="2000" dirty="0"/>
          </a:p>
        </p:txBody>
      </p:sp>
      <p:sp>
        <p:nvSpPr>
          <p:cNvPr id="4" name="Shape 2"/>
          <p:cNvSpPr/>
          <p:nvPr/>
        </p:nvSpPr>
        <p:spPr>
          <a:xfrm>
            <a:off x="793790" y="2857143"/>
            <a:ext cx="6422231" cy="2096095"/>
          </a:xfrm>
          <a:prstGeom prst="roundRect">
            <a:avLst>
              <a:gd name="adj" fmla="val 1420"/>
            </a:avLst>
          </a:prstGeom>
          <a:solidFill>
            <a:srgbClr val="F3EEE3"/>
          </a:solidFill>
          <a:ln/>
        </p:spPr>
      </p:sp>
      <p:sp>
        <p:nvSpPr>
          <p:cNvPr id="5" name="Text 3"/>
          <p:cNvSpPr/>
          <p:nvPr/>
        </p:nvSpPr>
        <p:spPr>
          <a:xfrm>
            <a:off x="992148" y="305550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MuseoModerno Medium" pitchFamily="34" charset="0"/>
                <a:ea typeface="MuseoModerno Medium" pitchFamily="34" charset="-122"/>
                <a:cs typeface="MuseoModerno Medium" pitchFamily="34" charset="-120"/>
              </a:rPr>
              <a:t>🔒</a:t>
            </a:r>
            <a:r>
              <a:rPr lang="en-US" sz="1950" dirty="0">
                <a:solidFill>
                  <a:srgbClr val="2B4150"/>
                </a:solidFill>
                <a:latin typeface="MuseoModerno Medium" pitchFamily="34" charset="0"/>
                <a:ea typeface="MuseoModerno Medium" pitchFamily="34" charset="-122"/>
                <a:cs typeface="MuseoModerno Medium" pitchFamily="34" charset="-120"/>
              </a:rPr>
              <a:t> HTTPS via nip.io</a:t>
            </a:r>
            <a:endParaRPr lang="en-US" sz="1950" dirty="0"/>
          </a:p>
        </p:txBody>
      </p:sp>
      <p:sp>
        <p:nvSpPr>
          <p:cNvPr id="6" name="Text 4"/>
          <p:cNvSpPr/>
          <p:nvPr/>
        </p:nvSpPr>
        <p:spPr>
          <a:xfrm>
            <a:off x="992148" y="3484721"/>
            <a:ext cx="6025515"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Ajout d'un certificat SSL via </a:t>
            </a:r>
            <a:r>
              <a:rPr lang="en-US" sz="1550" b="1" dirty="0">
                <a:solidFill>
                  <a:srgbClr val="2B4150"/>
                </a:solidFill>
                <a:latin typeface="Source Sans 3" pitchFamily="34" charset="0"/>
                <a:ea typeface="Source Sans 3" pitchFamily="34" charset="-122"/>
                <a:cs typeface="Source Sans 3" pitchFamily="34" charset="-120"/>
              </a:rPr>
              <a:t>nip.io</a:t>
            </a:r>
            <a:r>
              <a:rPr lang="en-US" sz="1550" dirty="0">
                <a:solidFill>
                  <a:srgbClr val="2B4150"/>
                </a:solidFill>
                <a:latin typeface="Source Sans 3" pitchFamily="34" charset="0"/>
                <a:ea typeface="Source Sans 3" pitchFamily="34" charset="-122"/>
                <a:cs typeface="Source Sans 3" pitchFamily="34" charset="-120"/>
              </a:rPr>
              <a:t> permettant une connexion sécurisée en HTTPS, sans avoir à monter une PKI interne avec un serveur de certificats racine et subalterne — une </a:t>
            </a:r>
            <a:r>
              <a:rPr lang="en-US" sz="1550" dirty="0" err="1">
                <a:solidFill>
                  <a:srgbClr val="2B4150"/>
                </a:solidFill>
                <a:latin typeface="Source Sans 3" pitchFamily="34" charset="0"/>
                <a:ea typeface="Source Sans 3" pitchFamily="34" charset="-122"/>
                <a:cs typeface="Source Sans 3" pitchFamily="34" charset="-120"/>
              </a:rPr>
              <a:t>approche</a:t>
            </a:r>
            <a:r>
              <a:rPr lang="en-US" sz="1550" dirty="0">
                <a:solidFill>
                  <a:srgbClr val="2B4150"/>
                </a:solidFill>
                <a:latin typeface="Source Sans 3" pitchFamily="34" charset="0"/>
                <a:ea typeface="Source Sans 3" pitchFamily="34" charset="-122"/>
                <a:cs typeface="Source Sans 3" pitchFamily="34" charset="-120"/>
              </a:rPr>
              <a:t> plus </a:t>
            </a:r>
            <a:r>
              <a:rPr lang="en-US" sz="1550" dirty="0" err="1">
                <a:solidFill>
                  <a:srgbClr val="2B4150"/>
                </a:solidFill>
                <a:latin typeface="Source Sans 3" pitchFamily="34" charset="0"/>
                <a:ea typeface="Source Sans 3" pitchFamily="34" charset="-122"/>
                <a:cs typeface="Source Sans 3" pitchFamily="34" charset="-120"/>
              </a:rPr>
              <a:t>ergonomique</a:t>
            </a:r>
            <a:r>
              <a:rPr lang="en-US" sz="1550" dirty="0">
                <a:solidFill>
                  <a:srgbClr val="2B4150"/>
                </a:solidFill>
                <a:latin typeface="Source Sans 3" pitchFamily="34" charset="0"/>
                <a:ea typeface="Source Sans 3" pitchFamily="34" charset="-122"/>
                <a:cs typeface="Source Sans 3" pitchFamily="34" charset="-120"/>
              </a:rPr>
              <a:t> et </a:t>
            </a:r>
            <a:r>
              <a:rPr lang="en-US" sz="1550" dirty="0" err="1">
                <a:solidFill>
                  <a:srgbClr val="2B4150"/>
                </a:solidFill>
                <a:latin typeface="Source Sans 3" pitchFamily="34" charset="0"/>
                <a:ea typeface="Source Sans 3" pitchFamily="34" charset="-122"/>
                <a:cs typeface="Source Sans 3" pitchFamily="34" charset="-120"/>
              </a:rPr>
              <a:t>efficiente</a:t>
            </a:r>
            <a:r>
              <a:rPr lang="en-US" sz="1550" dirty="0">
                <a:solidFill>
                  <a:srgbClr val="2B4150"/>
                </a:solidFill>
                <a:latin typeface="Source Sans 3" pitchFamily="34" charset="0"/>
                <a:ea typeface="Source Sans 3" pitchFamily="34" charset="-122"/>
                <a:cs typeface="Source Sans 3" pitchFamily="34" charset="-120"/>
              </a:rPr>
              <a:t> pour un contexte de démonstration.</a:t>
            </a:r>
            <a:endParaRPr lang="en-US" sz="1550" dirty="0"/>
          </a:p>
        </p:txBody>
      </p:sp>
      <p:sp>
        <p:nvSpPr>
          <p:cNvPr id="7" name="Shape 5"/>
          <p:cNvSpPr/>
          <p:nvPr/>
        </p:nvSpPr>
        <p:spPr>
          <a:xfrm>
            <a:off x="7414379" y="2857143"/>
            <a:ext cx="6422231" cy="2096095"/>
          </a:xfrm>
          <a:prstGeom prst="roundRect">
            <a:avLst>
              <a:gd name="adj" fmla="val 1420"/>
            </a:avLst>
          </a:prstGeom>
          <a:solidFill>
            <a:srgbClr val="F3EEE3"/>
          </a:solidFill>
          <a:ln/>
        </p:spPr>
      </p:sp>
      <p:sp>
        <p:nvSpPr>
          <p:cNvPr id="8" name="Text 6"/>
          <p:cNvSpPr/>
          <p:nvPr/>
        </p:nvSpPr>
        <p:spPr>
          <a:xfrm>
            <a:off x="7612737" y="3055501"/>
            <a:ext cx="3508653"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MuseoModerno Medium" pitchFamily="34" charset="0"/>
                <a:ea typeface="MuseoModerno Medium" pitchFamily="34" charset="-122"/>
                <a:cs typeface="MuseoModerno Medium" pitchFamily="34" charset="-120"/>
              </a:rPr>
              <a:t>🔑</a:t>
            </a:r>
            <a:r>
              <a:rPr lang="en-US" sz="1950" dirty="0">
                <a:solidFill>
                  <a:srgbClr val="2B4150"/>
                </a:solidFill>
                <a:latin typeface="MuseoModerno Medium" pitchFamily="34" charset="0"/>
                <a:ea typeface="MuseoModerno Medium" pitchFamily="34" charset="-122"/>
                <a:cs typeface="MuseoModerno Medium" pitchFamily="34" charset="-120"/>
              </a:rPr>
              <a:t> Clefs SSH &amp; Accès restreint</a:t>
            </a:r>
            <a:endParaRPr lang="en-US" sz="1950" dirty="0"/>
          </a:p>
        </p:txBody>
      </p:sp>
      <p:sp>
        <p:nvSpPr>
          <p:cNvPr id="9" name="Text 7"/>
          <p:cNvSpPr/>
          <p:nvPr/>
        </p:nvSpPr>
        <p:spPr>
          <a:xfrm>
            <a:off x="7612737" y="3484721"/>
            <a:ext cx="6025515"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L'authentification par clef SSH est un prérequis injecté directement via Terraform. Les données et le travail ne sont accessibles et modifiables que par les personnes autorisées — principe de </a:t>
            </a:r>
            <a:r>
              <a:rPr lang="en-US" sz="1550" b="1" dirty="0">
                <a:solidFill>
                  <a:srgbClr val="2B4150"/>
                </a:solidFill>
                <a:latin typeface="Source Sans 3" pitchFamily="34" charset="0"/>
                <a:ea typeface="Source Sans 3" pitchFamily="34" charset="-122"/>
                <a:cs typeface="Source Sans 3" pitchFamily="34" charset="-120"/>
              </a:rPr>
              <a:t>moindre privilège</a:t>
            </a:r>
            <a:r>
              <a:rPr lang="en-US" sz="1550" dirty="0">
                <a:solidFill>
                  <a:srgbClr val="2B4150"/>
                </a:solidFill>
                <a:latin typeface="Source Sans 3" pitchFamily="34" charset="0"/>
                <a:ea typeface="Source Sans 3" pitchFamily="34" charset="-122"/>
                <a:cs typeface="Source Sans 3" pitchFamily="34" charset="-120"/>
              </a:rPr>
              <a:t> appliqué à la gestion des accès.</a:t>
            </a:r>
            <a:endParaRPr lang="en-US" sz="1550" dirty="0"/>
          </a:p>
        </p:txBody>
      </p:sp>
      <p:sp>
        <p:nvSpPr>
          <p:cNvPr id="10" name="Shape 8"/>
          <p:cNvSpPr/>
          <p:nvPr/>
        </p:nvSpPr>
        <p:spPr>
          <a:xfrm>
            <a:off x="793790" y="5151596"/>
            <a:ext cx="6422231" cy="2096095"/>
          </a:xfrm>
          <a:prstGeom prst="roundRect">
            <a:avLst>
              <a:gd name="adj" fmla="val 1420"/>
            </a:avLst>
          </a:prstGeom>
          <a:solidFill>
            <a:srgbClr val="F3EEE3"/>
          </a:solidFill>
          <a:ln/>
        </p:spPr>
      </p:sp>
      <p:sp>
        <p:nvSpPr>
          <p:cNvPr id="11" name="Text 9"/>
          <p:cNvSpPr/>
          <p:nvPr/>
        </p:nvSpPr>
        <p:spPr>
          <a:xfrm>
            <a:off x="992148" y="5349954"/>
            <a:ext cx="2946678"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MuseoModerno Medium" pitchFamily="34" charset="0"/>
                <a:ea typeface="MuseoModerno Medium" pitchFamily="34" charset="-122"/>
                <a:cs typeface="MuseoModerno Medium" pitchFamily="34" charset="-120"/>
              </a:rPr>
              <a:t>☁️</a:t>
            </a:r>
            <a:r>
              <a:rPr lang="en-US" sz="1950" dirty="0">
                <a:solidFill>
                  <a:srgbClr val="2B4150"/>
                </a:solidFill>
                <a:latin typeface="MuseoModerno Medium" pitchFamily="34" charset="0"/>
                <a:ea typeface="MuseoModerno Medium" pitchFamily="34" charset="-122"/>
                <a:cs typeface="MuseoModerno Medium" pitchFamily="34" charset="-120"/>
              </a:rPr>
              <a:t> Règles Cloud Provider</a:t>
            </a:r>
            <a:endParaRPr lang="en-US" sz="1950" dirty="0"/>
          </a:p>
        </p:txBody>
      </p:sp>
      <p:sp>
        <p:nvSpPr>
          <p:cNvPr id="12" name="Text 10"/>
          <p:cNvSpPr/>
          <p:nvPr/>
        </p:nvSpPr>
        <p:spPr>
          <a:xfrm>
            <a:off x="992148" y="5779175"/>
            <a:ext cx="6025515"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Utilisation des configurations de règles d'administration fournies par l'hébergeur cloud (GCP) : pare-feu, règles d'entrée/sortie, restriction des ports non exposés. Une organisation très restreinte au niveau des différents services limite l'exposition en cas de compromission.</a:t>
            </a:r>
            <a:endParaRPr lang="en-US" sz="1550" dirty="0"/>
          </a:p>
        </p:txBody>
      </p:sp>
      <p:sp>
        <p:nvSpPr>
          <p:cNvPr id="13" name="Shape 11"/>
          <p:cNvSpPr/>
          <p:nvPr/>
        </p:nvSpPr>
        <p:spPr>
          <a:xfrm>
            <a:off x="7414379" y="5151596"/>
            <a:ext cx="6422231" cy="2096095"/>
          </a:xfrm>
          <a:prstGeom prst="roundRect">
            <a:avLst>
              <a:gd name="adj" fmla="val 1420"/>
            </a:avLst>
          </a:prstGeom>
          <a:solidFill>
            <a:srgbClr val="F3EEE3"/>
          </a:solidFill>
          <a:ln/>
        </p:spPr>
      </p:sp>
      <p:sp>
        <p:nvSpPr>
          <p:cNvPr id="14" name="Text 12"/>
          <p:cNvSpPr/>
          <p:nvPr/>
        </p:nvSpPr>
        <p:spPr>
          <a:xfrm>
            <a:off x="7612737" y="5349954"/>
            <a:ext cx="3816906"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MuseoModerno Medium" pitchFamily="34" charset="0"/>
                <a:ea typeface="MuseoModerno Medium" pitchFamily="34" charset="-122"/>
                <a:cs typeface="MuseoModerno Medium" pitchFamily="34" charset="-120"/>
              </a:rPr>
              <a:t>🛡️</a:t>
            </a:r>
            <a:r>
              <a:rPr lang="en-US" sz="1950" dirty="0">
                <a:solidFill>
                  <a:srgbClr val="2B4150"/>
                </a:solidFill>
                <a:latin typeface="MuseoModerno Medium" pitchFamily="34" charset="0"/>
                <a:ea typeface="MuseoModerno Medium" pitchFamily="34" charset="-122"/>
                <a:cs typeface="MuseoModerno Medium" pitchFamily="34" charset="-120"/>
              </a:rPr>
              <a:t> Vecteurs d'attaque identifiés</a:t>
            </a:r>
            <a:endParaRPr lang="en-US" sz="1950" dirty="0"/>
          </a:p>
        </p:txBody>
      </p:sp>
      <p:sp>
        <p:nvSpPr>
          <p:cNvPr id="15" name="Text 13"/>
          <p:cNvSpPr/>
          <p:nvPr/>
        </p:nvSpPr>
        <p:spPr>
          <a:xfrm>
            <a:off x="7612737" y="5779175"/>
            <a:ext cx="6025515"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Les risques résiduels identifiés : vulnérabilité potentielle du Nginx (version non à jour), et bruteforce SSH (long et fastidieux). L'absence de base de données élimine les risques d'injection SQL ou d'exfiltration de données sensibles.</a:t>
            </a:r>
            <a:endParaRPr lang="en-US" sz="1550" dirty="0"/>
          </a:p>
        </p:txBody>
      </p:sp>
      <p:pic>
        <p:nvPicPr>
          <p:cNvPr id="17" name="Image 16">
            <a:extLst>
              <a:ext uri="{FF2B5EF4-FFF2-40B4-BE49-F238E27FC236}">
                <a16:creationId xmlns:a16="http://schemas.microsoft.com/office/drawing/2014/main" id="{52A1E5FE-A4BC-A300-3A0F-ABA1C16F4128}"/>
              </a:ext>
            </a:extLst>
          </p:cNvPr>
          <p:cNvPicPr>
            <a:picLocks noChangeAspect="1"/>
          </p:cNvPicPr>
          <p:nvPr/>
        </p:nvPicPr>
        <p:blipFill>
          <a:blip r:embed="rId3"/>
          <a:stretch>
            <a:fillRect/>
          </a:stretch>
        </p:blipFill>
        <p:spPr>
          <a:xfrm>
            <a:off x="10549071" y="7446049"/>
            <a:ext cx="4001058" cy="7906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81966" y="428839"/>
            <a:ext cx="7043857" cy="519946"/>
          </a:xfrm>
          <a:prstGeom prst="rect">
            <a:avLst/>
          </a:prstGeom>
          <a:noFill/>
          <a:ln/>
        </p:spPr>
        <p:txBody>
          <a:bodyPr wrap="none" lIns="0" tIns="0" rIns="0" bIns="0" rtlCol="0" anchor="t"/>
          <a:lstStyle/>
          <a:p>
            <a:pPr marL="0" indent="0" algn="l">
              <a:lnSpc>
                <a:spcPts val="4050"/>
              </a:lnSpc>
              <a:buNone/>
            </a:pPr>
            <a:r>
              <a:rPr lang="en-US" sz="3900" dirty="0">
                <a:solidFill>
                  <a:srgbClr val="124E73"/>
                </a:solidFill>
                <a:latin typeface="MuseoModerno Medium" pitchFamily="34" charset="0"/>
                <a:ea typeface="MuseoModerno Medium" pitchFamily="34" charset="-122"/>
                <a:cs typeface="MuseoModerno Medium" pitchFamily="34" charset="-120"/>
              </a:rPr>
              <a:t>Gestion des Containers &amp; Stockage</a:t>
            </a:r>
            <a:endParaRPr lang="en-US" sz="3900" dirty="0"/>
          </a:p>
        </p:txBody>
      </p:sp>
      <p:sp>
        <p:nvSpPr>
          <p:cNvPr id="3" name="Text 1"/>
          <p:cNvSpPr/>
          <p:nvPr/>
        </p:nvSpPr>
        <p:spPr>
          <a:xfrm>
            <a:off x="698273" y="1219173"/>
            <a:ext cx="13123545" cy="489585"/>
          </a:xfrm>
          <a:prstGeom prst="rect">
            <a:avLst/>
          </a:prstGeom>
          <a:noFill/>
          <a:ln/>
        </p:spPr>
        <p:txBody>
          <a:bodyPr wrap="square" lIns="0" tIns="0" rIns="0" bIns="0" rtlCol="0" anchor="t"/>
          <a:lstStyle/>
          <a:p>
            <a:pPr marL="0" indent="0" algn="l">
              <a:lnSpc>
                <a:spcPts val="1900"/>
              </a:lnSpc>
              <a:buNone/>
            </a:pPr>
            <a:r>
              <a:rPr lang="en-US" sz="2000" dirty="0">
                <a:solidFill>
                  <a:srgbClr val="2B4150"/>
                </a:solidFill>
                <a:latin typeface="Source Sans 3" pitchFamily="34" charset="0"/>
                <a:ea typeface="Source Sans 3" pitchFamily="34" charset="-122"/>
                <a:cs typeface="Source Sans 3" pitchFamily="34" charset="-120"/>
              </a:rPr>
              <a:t>La conteneurisation avec Docker est au cœur de la portabilité du projet. Elle permet d'isoler l'environnement applicatif, d'embarquer les dépendances, et de garantir un comportement identique en local, en test et en production.</a:t>
            </a:r>
            <a:endParaRPr lang="en-US" sz="2000" dirty="0"/>
          </a:p>
        </p:txBody>
      </p:sp>
      <p:sp>
        <p:nvSpPr>
          <p:cNvPr id="4" name="Shape 2"/>
          <p:cNvSpPr/>
          <p:nvPr/>
        </p:nvSpPr>
        <p:spPr>
          <a:xfrm>
            <a:off x="633532" y="2260905"/>
            <a:ext cx="6598563" cy="4749522"/>
          </a:xfrm>
          <a:prstGeom prst="roundRect">
            <a:avLst>
              <a:gd name="adj" fmla="val 526"/>
            </a:avLst>
          </a:prstGeom>
          <a:solidFill>
            <a:srgbClr val="325F7B"/>
          </a:solidFill>
          <a:ln/>
        </p:spPr>
      </p:sp>
      <p:sp>
        <p:nvSpPr>
          <p:cNvPr id="5" name="Text 3"/>
          <p:cNvSpPr/>
          <p:nvPr/>
        </p:nvSpPr>
        <p:spPr>
          <a:xfrm>
            <a:off x="799862" y="2602349"/>
            <a:ext cx="3850005" cy="259913"/>
          </a:xfrm>
          <a:prstGeom prst="rect">
            <a:avLst/>
          </a:prstGeom>
          <a:noFill/>
          <a:ln/>
        </p:spPr>
        <p:txBody>
          <a:bodyPr wrap="none" lIns="0" tIns="0" rIns="0" bIns="0" rtlCol="0" anchor="t"/>
          <a:lstStyle/>
          <a:p>
            <a:pPr marL="0" indent="0" algn="l">
              <a:lnSpc>
                <a:spcPts val="2000"/>
              </a:lnSpc>
              <a:buNone/>
            </a:pPr>
            <a:r>
              <a:rPr lang="en-US" sz="2400" dirty="0">
                <a:solidFill>
                  <a:srgbClr val="FFFFFF"/>
                </a:solidFill>
                <a:latin typeface="MuseoModerno Medium" pitchFamily="34" charset="0"/>
                <a:ea typeface="MuseoModerno Medium" pitchFamily="34" charset="-122"/>
                <a:cs typeface="MuseoModerno Medium" pitchFamily="34" charset="-120"/>
              </a:rPr>
              <a:t>Docker &amp; Isolation de l'environnement</a:t>
            </a:r>
            <a:endParaRPr lang="en-US" sz="2400" dirty="0"/>
          </a:p>
        </p:txBody>
      </p:sp>
      <p:sp>
        <p:nvSpPr>
          <p:cNvPr id="6" name="Text 4"/>
          <p:cNvSpPr/>
          <p:nvPr/>
        </p:nvSpPr>
        <p:spPr>
          <a:xfrm>
            <a:off x="799862" y="3001804"/>
            <a:ext cx="5842676" cy="1009650"/>
          </a:xfrm>
          <a:prstGeom prst="rect">
            <a:avLst/>
          </a:prstGeom>
          <a:noFill/>
          <a:ln/>
        </p:spPr>
        <p:txBody>
          <a:bodyPr wrap="square" lIns="0" tIns="0" rIns="0" bIns="0" rtlCol="0" anchor="t"/>
          <a:lstStyle/>
          <a:p>
            <a:pPr marL="0" indent="0" algn="l">
              <a:lnSpc>
                <a:spcPts val="1900"/>
              </a:lnSpc>
              <a:buNone/>
            </a:pPr>
            <a:r>
              <a:rPr lang="en-US" dirty="0">
                <a:solidFill>
                  <a:srgbClr val="FFFFFF"/>
                </a:solidFill>
                <a:latin typeface="Source Sans 3" pitchFamily="34" charset="0"/>
                <a:ea typeface="Source Sans 3" pitchFamily="34" charset="-122"/>
                <a:cs typeface="Source Sans 3" pitchFamily="34" charset="-120"/>
              </a:rPr>
              <a:t>Le conteneur joue le rôle de serveur hébergeant le code et ses dépendances. Le repository se suffit à lui-même : il contient le </a:t>
            </a:r>
            <a:r>
              <a:rPr lang="en-US" dirty="0">
                <a:solidFill>
                  <a:srgbClr val="FFFFFF"/>
                </a:solidFill>
                <a:highlight>
                  <a:srgbClr val="3F6C88"/>
                </a:highlight>
                <a:latin typeface="Consolas" pitchFamily="34" charset="0"/>
                <a:ea typeface="Consolas" pitchFamily="34" charset="-122"/>
                <a:cs typeface="Consolas" pitchFamily="34" charset="-120"/>
              </a:rPr>
              <a:t>Dockerfile</a:t>
            </a:r>
            <a:r>
              <a:rPr lang="en-US" dirty="0">
                <a:solidFill>
                  <a:srgbClr val="FFFFFF"/>
                </a:solidFill>
                <a:latin typeface="Source Sans 3" pitchFamily="34" charset="0"/>
                <a:ea typeface="Source Sans 3" pitchFamily="34" charset="-122"/>
                <a:cs typeface="Source Sans 3" pitchFamily="34" charset="-120"/>
              </a:rPr>
              <a:t>, le code applicatif et la configuration. Cette autonomie est </a:t>
            </a:r>
            <a:r>
              <a:rPr lang="en-US" b="1" dirty="0">
                <a:solidFill>
                  <a:srgbClr val="FFFFFF"/>
                </a:solidFill>
                <a:latin typeface="Source Sans 3" pitchFamily="34" charset="0"/>
                <a:ea typeface="Source Sans 3" pitchFamily="34" charset="-122"/>
                <a:cs typeface="Source Sans 3" pitchFamily="34" charset="-120"/>
              </a:rPr>
              <a:t>idéale pour le cloud</a:t>
            </a:r>
            <a:r>
              <a:rPr lang="en-US" dirty="0">
                <a:solidFill>
                  <a:srgbClr val="FFFFFF"/>
                </a:solidFill>
                <a:latin typeface="Source Sans 3" pitchFamily="34" charset="0"/>
                <a:ea typeface="Source Sans 3" pitchFamily="34" charset="-122"/>
                <a:cs typeface="Source Sans 3" pitchFamily="34" charset="-120"/>
              </a:rPr>
              <a:t> — un simple </a:t>
            </a:r>
            <a:r>
              <a:rPr lang="en-US" dirty="0">
                <a:solidFill>
                  <a:srgbClr val="FFFFFF"/>
                </a:solidFill>
                <a:highlight>
                  <a:srgbClr val="3F6C88"/>
                </a:highlight>
                <a:latin typeface="Consolas" pitchFamily="34" charset="0"/>
                <a:ea typeface="Consolas" pitchFamily="34" charset="-122"/>
                <a:cs typeface="Consolas" pitchFamily="34" charset="-120"/>
              </a:rPr>
              <a:t>docker build</a:t>
            </a:r>
            <a:r>
              <a:rPr lang="en-US" dirty="0">
                <a:solidFill>
                  <a:srgbClr val="FFFFFF"/>
                </a:solidFill>
                <a:latin typeface="Source Sans 3" pitchFamily="34" charset="0"/>
                <a:ea typeface="Source Sans 3" pitchFamily="34" charset="-122"/>
                <a:cs typeface="Source Sans 3" pitchFamily="34" charset="-120"/>
              </a:rPr>
              <a:t> suivi d'un </a:t>
            </a:r>
            <a:r>
              <a:rPr lang="en-US" dirty="0">
                <a:solidFill>
                  <a:srgbClr val="FFFFFF"/>
                </a:solidFill>
                <a:highlight>
                  <a:srgbClr val="3F6C88"/>
                </a:highlight>
                <a:latin typeface="Consolas" pitchFamily="34" charset="0"/>
                <a:ea typeface="Consolas" pitchFamily="34" charset="-122"/>
                <a:cs typeface="Consolas" pitchFamily="34" charset="-120"/>
              </a:rPr>
              <a:t>docker run</a:t>
            </a:r>
            <a:r>
              <a:rPr lang="en-US" dirty="0">
                <a:solidFill>
                  <a:srgbClr val="FFFFFF"/>
                </a:solidFill>
                <a:latin typeface="Source Sans 3" pitchFamily="34" charset="0"/>
                <a:ea typeface="Source Sans 3" pitchFamily="34" charset="-122"/>
                <a:cs typeface="Source Sans 3" pitchFamily="34" charset="-120"/>
              </a:rPr>
              <a:t> suffit à démarrer le service.</a:t>
            </a:r>
            <a:endParaRPr lang="en-US" dirty="0"/>
          </a:p>
        </p:txBody>
      </p:sp>
      <p:sp>
        <p:nvSpPr>
          <p:cNvPr id="7" name="Text 5"/>
          <p:cNvSpPr/>
          <p:nvPr/>
        </p:nvSpPr>
        <p:spPr>
          <a:xfrm>
            <a:off x="799862" y="4715473"/>
            <a:ext cx="2080260" cy="259913"/>
          </a:xfrm>
          <a:prstGeom prst="rect">
            <a:avLst/>
          </a:prstGeom>
          <a:noFill/>
          <a:ln/>
        </p:spPr>
        <p:txBody>
          <a:bodyPr wrap="none" lIns="0" tIns="0" rIns="0" bIns="0" rtlCol="0" anchor="t"/>
          <a:lstStyle/>
          <a:p>
            <a:pPr marL="0" indent="0" algn="l">
              <a:lnSpc>
                <a:spcPts val="2000"/>
              </a:lnSpc>
              <a:buNone/>
            </a:pPr>
            <a:r>
              <a:rPr lang="en-US" sz="2400" dirty="0">
                <a:solidFill>
                  <a:srgbClr val="FFFFFF"/>
                </a:solidFill>
                <a:latin typeface="MuseoModerno Medium" pitchFamily="34" charset="0"/>
                <a:ea typeface="MuseoModerno Medium" pitchFamily="34" charset="-122"/>
                <a:cs typeface="MuseoModerno Medium" pitchFamily="34" charset="-120"/>
              </a:rPr>
              <a:t>Volumes Persistants</a:t>
            </a:r>
            <a:endParaRPr lang="en-US" sz="2400" dirty="0"/>
          </a:p>
        </p:txBody>
      </p:sp>
      <p:sp>
        <p:nvSpPr>
          <p:cNvPr id="8" name="Text 6"/>
          <p:cNvSpPr/>
          <p:nvPr/>
        </p:nvSpPr>
        <p:spPr>
          <a:xfrm>
            <a:off x="799862" y="5110774"/>
            <a:ext cx="6031862" cy="979170"/>
          </a:xfrm>
          <a:prstGeom prst="rect">
            <a:avLst/>
          </a:prstGeom>
          <a:noFill/>
          <a:ln/>
        </p:spPr>
        <p:txBody>
          <a:bodyPr wrap="square" lIns="0" tIns="0" rIns="0" bIns="0" rtlCol="0" anchor="t"/>
          <a:lstStyle/>
          <a:p>
            <a:pPr marL="0" indent="0" algn="l">
              <a:lnSpc>
                <a:spcPts val="1900"/>
              </a:lnSpc>
              <a:buNone/>
            </a:pPr>
            <a:r>
              <a:rPr lang="en-US" dirty="0">
                <a:solidFill>
                  <a:srgbClr val="FFFFFF"/>
                </a:solidFill>
                <a:latin typeface="Source Sans 3" pitchFamily="34" charset="0"/>
                <a:ea typeface="Source Sans 3" pitchFamily="34" charset="-122"/>
                <a:cs typeface="Source Sans 3" pitchFamily="34" charset="-120"/>
              </a:rPr>
              <a:t>La création de volumes Docker garantit la </a:t>
            </a:r>
            <a:r>
              <a:rPr lang="en-US" b="1" dirty="0">
                <a:solidFill>
                  <a:srgbClr val="FFFFFF"/>
                </a:solidFill>
                <a:latin typeface="Source Sans 3" pitchFamily="34" charset="0"/>
                <a:ea typeface="Source Sans 3" pitchFamily="34" charset="-122"/>
                <a:cs typeface="Source Sans 3" pitchFamily="34" charset="-120"/>
              </a:rPr>
              <a:t>persistance des données</a:t>
            </a:r>
            <a:r>
              <a:rPr lang="en-US" dirty="0">
                <a:solidFill>
                  <a:srgbClr val="FFFFFF"/>
                </a:solidFill>
                <a:latin typeface="Source Sans 3" pitchFamily="34" charset="0"/>
                <a:ea typeface="Source Sans 3" pitchFamily="34" charset="-122"/>
                <a:cs typeface="Source Sans 3" pitchFamily="34" charset="-120"/>
              </a:rPr>
              <a:t> malgré les arrêts, redémarrages ou mises à jour du conteneur ou de la VM.</a:t>
            </a:r>
            <a:endParaRPr lang="en-US" dirty="0"/>
          </a:p>
        </p:txBody>
      </p:sp>
      <p:sp>
        <p:nvSpPr>
          <p:cNvPr id="9" name="Text 7"/>
          <p:cNvSpPr/>
          <p:nvPr/>
        </p:nvSpPr>
        <p:spPr>
          <a:xfrm>
            <a:off x="7525821" y="2095367"/>
            <a:ext cx="3790474" cy="259913"/>
          </a:xfrm>
          <a:prstGeom prst="rect">
            <a:avLst/>
          </a:prstGeom>
          <a:noFill/>
          <a:ln/>
        </p:spPr>
        <p:txBody>
          <a:bodyPr wrap="none" lIns="0" tIns="0" rIns="0" bIns="0" rtlCol="0" anchor="t"/>
          <a:lstStyle/>
          <a:p>
            <a:pPr marL="0" indent="0" algn="l">
              <a:lnSpc>
                <a:spcPts val="2000"/>
              </a:lnSpc>
              <a:buNone/>
            </a:pPr>
            <a:r>
              <a:rPr lang="en-US" sz="2400" dirty="0">
                <a:solidFill>
                  <a:srgbClr val="124E73"/>
                </a:solidFill>
                <a:latin typeface="MuseoModerno Medium" pitchFamily="34" charset="0"/>
                <a:ea typeface="MuseoModerno Medium" pitchFamily="34" charset="-122"/>
                <a:cs typeface="MuseoModerno Medium" pitchFamily="34" charset="-120"/>
              </a:rPr>
              <a:t>Environnements de test avec Railway</a:t>
            </a:r>
            <a:endParaRPr lang="en-US" sz="2400" dirty="0"/>
          </a:p>
        </p:txBody>
      </p:sp>
      <p:sp>
        <p:nvSpPr>
          <p:cNvPr id="10" name="Text 8"/>
          <p:cNvSpPr/>
          <p:nvPr/>
        </p:nvSpPr>
        <p:spPr>
          <a:xfrm>
            <a:off x="7525821" y="2438156"/>
            <a:ext cx="6358771" cy="979170"/>
          </a:xfrm>
          <a:prstGeom prst="rect">
            <a:avLst/>
          </a:prstGeom>
          <a:noFill/>
          <a:ln/>
        </p:spPr>
        <p:txBody>
          <a:bodyPr wrap="square" lIns="0" tIns="0" rIns="0" bIns="0" rtlCol="0" anchor="t"/>
          <a:lstStyle/>
          <a:p>
            <a:pPr marL="0" indent="0" algn="l">
              <a:lnSpc>
                <a:spcPts val="1900"/>
              </a:lnSpc>
              <a:buNone/>
            </a:pPr>
            <a:r>
              <a:rPr lang="en-US" sz="1600" dirty="0">
                <a:solidFill>
                  <a:srgbClr val="2B4150"/>
                </a:solidFill>
                <a:latin typeface="Source Sans 3" pitchFamily="34" charset="0"/>
                <a:ea typeface="Source Sans 3" pitchFamily="34" charset="-122"/>
                <a:cs typeface="Source Sans 3" pitchFamily="34" charset="-120"/>
              </a:rPr>
              <a:t>Railway permet de créer plusieurs environnements distincts, chacun lié à une branche Git spécifique. Chaque environnement est un doublon isolé permettant de tester les modifications sans impacter la production. Cette approche reproduit le modèle </a:t>
            </a:r>
            <a:r>
              <a:rPr lang="en-US" sz="1600" b="1" dirty="0">
                <a:solidFill>
                  <a:srgbClr val="2B4150"/>
                </a:solidFill>
                <a:latin typeface="Source Sans 3" pitchFamily="34" charset="0"/>
                <a:ea typeface="Source Sans 3" pitchFamily="34" charset="-122"/>
                <a:cs typeface="Source Sans 3" pitchFamily="34" charset="-120"/>
              </a:rPr>
              <a:t>dev / staging / production</a:t>
            </a:r>
            <a:r>
              <a:rPr lang="en-US" sz="1600" dirty="0">
                <a:solidFill>
                  <a:srgbClr val="2B4150"/>
                </a:solidFill>
                <a:latin typeface="Source Sans 3" pitchFamily="34" charset="0"/>
                <a:ea typeface="Source Sans 3" pitchFamily="34" charset="-122"/>
                <a:cs typeface="Source Sans 3" pitchFamily="34" charset="-120"/>
              </a:rPr>
              <a:t> classique.</a:t>
            </a:r>
            <a:endParaRPr lang="en-US" sz="1600" dirty="0"/>
          </a:p>
        </p:txBody>
      </p:sp>
      <p:sp>
        <p:nvSpPr>
          <p:cNvPr id="11" name="Text 9"/>
          <p:cNvSpPr/>
          <p:nvPr/>
        </p:nvSpPr>
        <p:spPr>
          <a:xfrm>
            <a:off x="7525822" y="3770629"/>
            <a:ext cx="3950851" cy="259913"/>
          </a:xfrm>
          <a:prstGeom prst="rect">
            <a:avLst/>
          </a:prstGeom>
          <a:noFill/>
          <a:ln/>
        </p:spPr>
        <p:txBody>
          <a:bodyPr wrap="none" lIns="0" tIns="0" rIns="0" bIns="0" rtlCol="0" anchor="t"/>
          <a:lstStyle/>
          <a:p>
            <a:pPr marL="0" indent="0" algn="l">
              <a:lnSpc>
                <a:spcPts val="2000"/>
              </a:lnSpc>
              <a:buNone/>
            </a:pPr>
            <a:r>
              <a:rPr lang="en-US" sz="2400" dirty="0">
                <a:solidFill>
                  <a:srgbClr val="124E73"/>
                </a:solidFill>
                <a:latin typeface="MuseoModerno Medium" pitchFamily="34" charset="0"/>
                <a:ea typeface="MuseoModerno Medium" pitchFamily="34" charset="-122"/>
                <a:cs typeface="MuseoModerno Medium" pitchFamily="34" charset="-120"/>
              </a:rPr>
              <a:t>Git &amp; GitLFS pour la gestion des fichiers</a:t>
            </a:r>
            <a:endParaRPr lang="en-US" sz="2400" dirty="0"/>
          </a:p>
        </p:txBody>
      </p:sp>
      <p:sp>
        <p:nvSpPr>
          <p:cNvPr id="12" name="Text 10"/>
          <p:cNvSpPr/>
          <p:nvPr/>
        </p:nvSpPr>
        <p:spPr>
          <a:xfrm>
            <a:off x="7525823" y="4164629"/>
            <a:ext cx="6192440" cy="1254442"/>
          </a:xfrm>
          <a:prstGeom prst="rect">
            <a:avLst/>
          </a:prstGeom>
          <a:noFill/>
          <a:ln/>
        </p:spPr>
        <p:txBody>
          <a:bodyPr wrap="square" lIns="0" tIns="0" rIns="0" bIns="0" rtlCol="0" anchor="t"/>
          <a:lstStyle/>
          <a:p>
            <a:pPr marL="0" indent="0" algn="l">
              <a:lnSpc>
                <a:spcPts val="1900"/>
              </a:lnSpc>
              <a:buNone/>
            </a:pPr>
            <a:r>
              <a:rPr lang="en-US" sz="1600" dirty="0">
                <a:solidFill>
                  <a:srgbClr val="2B4150"/>
                </a:solidFill>
                <a:latin typeface="Source Sans 3" pitchFamily="34" charset="0"/>
                <a:ea typeface="Source Sans 3" pitchFamily="34" charset="-122"/>
                <a:cs typeface="Source Sans 3" pitchFamily="34" charset="-120"/>
              </a:rPr>
              <a:t>GitHub sert de référentiel principal et permet, à l'instar d'un snapshot </a:t>
            </a:r>
            <a:r>
              <a:rPr lang="en-US" sz="1600" dirty="0" err="1">
                <a:solidFill>
                  <a:srgbClr val="2B4150"/>
                </a:solidFill>
                <a:latin typeface="Source Sans 3" pitchFamily="34" charset="0"/>
                <a:ea typeface="Source Sans 3" pitchFamily="34" charset="-122"/>
                <a:cs typeface="Source Sans 3" pitchFamily="34" charset="-120"/>
              </a:rPr>
              <a:t>ou</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d’une</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sauvegarde</a:t>
            </a:r>
            <a:r>
              <a:rPr lang="en-US" sz="1600" dirty="0">
                <a:solidFill>
                  <a:srgbClr val="2B4150"/>
                </a:solidFill>
                <a:latin typeface="Source Sans 3" pitchFamily="34" charset="0"/>
                <a:ea typeface="Source Sans 3" pitchFamily="34" charset="-122"/>
                <a:cs typeface="Source Sans 3" pitchFamily="34" charset="-120"/>
              </a:rPr>
              <a:t>, de revenir à n'importe quel état antérieur du projet. </a:t>
            </a:r>
            <a:r>
              <a:rPr lang="en-US" sz="1600" dirty="0" err="1">
                <a:solidFill>
                  <a:srgbClr val="2B4150"/>
                </a:solidFill>
                <a:latin typeface="Source Sans 3" pitchFamily="34" charset="0"/>
                <a:ea typeface="Source Sans 3" pitchFamily="34" charset="-122"/>
                <a:cs typeface="Source Sans 3" pitchFamily="34" charset="-120"/>
              </a:rPr>
              <a:t>Sauf</a:t>
            </a:r>
            <a:r>
              <a:rPr lang="en-US" sz="1600" dirty="0">
                <a:solidFill>
                  <a:srgbClr val="2B4150"/>
                </a:solidFill>
                <a:latin typeface="Source Sans 3" pitchFamily="34" charset="0"/>
                <a:ea typeface="Source Sans 3" pitchFamily="34" charset="-122"/>
                <a:cs typeface="Source Sans 3" pitchFamily="34" charset="-120"/>
              </a:rPr>
              <a:t> pour les fichiers volumineux (comme les fichiers générés par </a:t>
            </a:r>
            <a:r>
              <a:rPr lang="en-US" sz="1600" dirty="0">
                <a:solidFill>
                  <a:srgbClr val="2B4150"/>
                </a:solidFill>
                <a:highlight>
                  <a:srgbClr val="F2EFE8"/>
                </a:highlight>
                <a:latin typeface="Consolas" pitchFamily="34" charset="0"/>
                <a:ea typeface="Consolas" pitchFamily="34" charset="-122"/>
                <a:cs typeface="Consolas" pitchFamily="34" charset="-120"/>
              </a:rPr>
              <a:t>terraform apply</a:t>
            </a:r>
            <a:r>
              <a:rPr lang="en-US" sz="1600" dirty="0">
                <a:solidFill>
                  <a:srgbClr val="2B4150"/>
                </a:solidFill>
                <a:latin typeface="Source Sans 3" pitchFamily="34" charset="0"/>
                <a:ea typeface="Source Sans 3" pitchFamily="34" charset="-122"/>
                <a:cs typeface="Source Sans 3" pitchFamily="34" charset="-120"/>
              </a:rPr>
              <a:t>), </a:t>
            </a:r>
            <a:r>
              <a:rPr lang="en-US" sz="1600" b="1" dirty="0">
                <a:solidFill>
                  <a:srgbClr val="2B4150"/>
                </a:solidFill>
                <a:latin typeface="Source Sans 3" pitchFamily="34" charset="0"/>
                <a:ea typeface="Source Sans 3" pitchFamily="34" charset="-122"/>
                <a:cs typeface="Source Sans 3" pitchFamily="34" charset="-120"/>
              </a:rPr>
              <a:t>Git Large File Storage (GitLFS)</a:t>
            </a:r>
            <a:r>
              <a:rPr lang="en-US" sz="1600" dirty="0">
                <a:solidFill>
                  <a:srgbClr val="2B4150"/>
                </a:solidFill>
                <a:latin typeface="Source Sans 3" pitchFamily="34" charset="0"/>
                <a:ea typeface="Source Sans 3" pitchFamily="34" charset="-122"/>
                <a:cs typeface="Source Sans 3" pitchFamily="34" charset="-120"/>
              </a:rPr>
              <a:t> crée un pointeur distant évitant les limitations de taille (100 MB par fichier). Les fichiers inutiles au versionnement sont exclus via </a:t>
            </a:r>
            <a:r>
              <a:rPr lang="en-US" sz="1600" dirty="0">
                <a:solidFill>
                  <a:srgbClr val="2B4150"/>
                </a:solidFill>
                <a:highlight>
                  <a:srgbClr val="F2EFE8"/>
                </a:highlight>
                <a:latin typeface="Consolas" pitchFamily="34" charset="0"/>
                <a:ea typeface="Consolas" pitchFamily="34" charset="-122"/>
                <a:cs typeface="Consolas" pitchFamily="34" charset="-120"/>
              </a:rPr>
              <a:t>.gitignore</a:t>
            </a:r>
            <a:r>
              <a:rPr lang="en-US" sz="1600" dirty="0">
                <a:solidFill>
                  <a:srgbClr val="2B4150"/>
                </a:solidFill>
                <a:latin typeface="Source Sans 3" pitchFamily="34" charset="0"/>
                <a:ea typeface="Source Sans 3" pitchFamily="34" charset="-122"/>
                <a:cs typeface="Source Sans 3" pitchFamily="34" charset="-120"/>
              </a:rPr>
              <a:t>.</a:t>
            </a:r>
            <a:endParaRPr lang="en-US" sz="1600" dirty="0"/>
          </a:p>
        </p:txBody>
      </p:sp>
      <p:sp>
        <p:nvSpPr>
          <p:cNvPr id="13" name="Shape 11"/>
          <p:cNvSpPr/>
          <p:nvPr/>
        </p:nvSpPr>
        <p:spPr>
          <a:xfrm>
            <a:off x="7525822" y="5886358"/>
            <a:ext cx="6358771" cy="1124069"/>
          </a:xfrm>
          <a:prstGeom prst="roundRect">
            <a:avLst>
              <a:gd name="adj" fmla="val 2221"/>
            </a:avLst>
          </a:prstGeom>
          <a:solidFill>
            <a:srgbClr val="C9DDE9"/>
          </a:solidFill>
          <a:ln/>
        </p:spPr>
      </p:sp>
      <p:pic>
        <p:nvPicPr>
          <p:cNvPr id="14" name="Image 0" descr="preencoded.png"/>
          <p:cNvPicPr>
            <a:picLocks noChangeAspect="1"/>
          </p:cNvPicPr>
          <p:nvPr/>
        </p:nvPicPr>
        <p:blipFill>
          <a:blip r:embed="rId3"/>
          <a:stretch>
            <a:fillRect/>
          </a:stretch>
        </p:blipFill>
        <p:spPr>
          <a:xfrm>
            <a:off x="7692152" y="6161246"/>
            <a:ext cx="208002" cy="166330"/>
          </a:xfrm>
          <a:prstGeom prst="rect">
            <a:avLst/>
          </a:prstGeom>
        </p:spPr>
      </p:pic>
      <p:sp>
        <p:nvSpPr>
          <p:cNvPr id="15" name="Text 12"/>
          <p:cNvSpPr/>
          <p:nvPr/>
        </p:nvSpPr>
        <p:spPr>
          <a:xfrm>
            <a:off x="8066484" y="6112431"/>
            <a:ext cx="5651778" cy="734378"/>
          </a:xfrm>
          <a:prstGeom prst="rect">
            <a:avLst/>
          </a:prstGeom>
          <a:noFill/>
          <a:ln/>
        </p:spPr>
        <p:txBody>
          <a:bodyPr wrap="square" lIns="0" tIns="0" rIns="0" bIns="0" rtlCol="0" anchor="t"/>
          <a:lstStyle/>
          <a:p>
            <a:pPr marL="0" indent="0" algn="l">
              <a:lnSpc>
                <a:spcPts val="1900"/>
              </a:lnSpc>
              <a:buNone/>
            </a:pPr>
            <a:r>
              <a:rPr lang="en-US" sz="1300" dirty="0">
                <a:solidFill>
                  <a:srgbClr val="000000"/>
                </a:solidFill>
                <a:latin typeface="Source Sans 3" pitchFamily="34" charset="0"/>
                <a:ea typeface="Source Sans 3" pitchFamily="34" charset="-122"/>
                <a:cs typeface="Source Sans 3" pitchFamily="34" charset="-120"/>
              </a:rPr>
              <a:t>L'incrémentation est organisée en ordre numérique — les décimales représentent des variantes mineures comme la portabilité des clefs SSH ou l'ajout de fonctionnalités secondaires.</a:t>
            </a:r>
            <a:endParaRPr lang="en-US" sz="1300" dirty="0"/>
          </a:p>
        </p:txBody>
      </p:sp>
      <p:pic>
        <p:nvPicPr>
          <p:cNvPr id="17" name="Image 16">
            <a:extLst>
              <a:ext uri="{FF2B5EF4-FFF2-40B4-BE49-F238E27FC236}">
                <a16:creationId xmlns:a16="http://schemas.microsoft.com/office/drawing/2014/main" id="{ABB933C1-5B53-B255-D6BF-B09867C03E2D}"/>
              </a:ext>
            </a:extLst>
          </p:cNvPr>
          <p:cNvPicPr>
            <a:picLocks noChangeAspect="1"/>
          </p:cNvPicPr>
          <p:nvPr/>
        </p:nvPicPr>
        <p:blipFill>
          <a:blip r:embed="rId4"/>
          <a:stretch>
            <a:fillRect/>
          </a:stretch>
        </p:blipFill>
        <p:spPr>
          <a:xfrm>
            <a:off x="10549071" y="7355457"/>
            <a:ext cx="4001058" cy="7906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0214" y="564059"/>
            <a:ext cx="8534519" cy="482560"/>
          </a:xfrm>
          <a:prstGeom prst="rect">
            <a:avLst/>
          </a:prstGeom>
          <a:noFill/>
          <a:ln/>
        </p:spPr>
        <p:txBody>
          <a:bodyPr wrap="none" lIns="0" tIns="0" rIns="0" bIns="0" rtlCol="0" anchor="t"/>
          <a:lstStyle/>
          <a:p>
            <a:pPr marL="0" indent="0" algn="l">
              <a:lnSpc>
                <a:spcPts val="3800"/>
              </a:lnSpc>
              <a:buNone/>
            </a:pPr>
            <a:r>
              <a:rPr lang="en-US" sz="3900" dirty="0">
                <a:solidFill>
                  <a:srgbClr val="124E73"/>
                </a:solidFill>
                <a:latin typeface="MuseoModerno Medium" pitchFamily="34" charset="0"/>
                <a:ea typeface="MuseoModerno Medium" pitchFamily="34" charset="-122"/>
                <a:cs typeface="MuseoModerno Medium" pitchFamily="34" charset="-120"/>
              </a:rPr>
              <a:t>Supervision avec Uptime Kuma &amp; GCP Metrics</a:t>
            </a:r>
            <a:endParaRPr lang="en-US" sz="3900" dirty="0"/>
          </a:p>
        </p:txBody>
      </p:sp>
      <p:sp>
        <p:nvSpPr>
          <p:cNvPr id="3" name="Text 1"/>
          <p:cNvSpPr/>
          <p:nvPr/>
        </p:nvSpPr>
        <p:spPr>
          <a:xfrm>
            <a:off x="584975" y="1179731"/>
            <a:ext cx="12178070" cy="439102"/>
          </a:xfrm>
          <a:prstGeom prst="rect">
            <a:avLst/>
          </a:prstGeom>
          <a:noFill/>
          <a:ln/>
        </p:spPr>
        <p:txBody>
          <a:bodyPr wrap="square" lIns="0" tIns="0" rIns="0" bIns="0" rtlCol="0" anchor="t"/>
          <a:lstStyle/>
          <a:p>
            <a:pPr marL="0" indent="0" algn="l">
              <a:buNone/>
            </a:pPr>
            <a:r>
              <a:rPr lang="en-US" sz="2000" dirty="0">
                <a:solidFill>
                  <a:srgbClr val="2B4150"/>
                </a:solidFill>
                <a:latin typeface="Source Sans 3" pitchFamily="34" charset="0"/>
                <a:ea typeface="Source Sans 3" pitchFamily="34" charset="-122"/>
                <a:cs typeface="Source Sans 3" pitchFamily="34" charset="-120"/>
              </a:rPr>
              <a:t>Exploiter une solution de supervision est une compétence essentielle pour garantir la pérennité des services. Deux niveaux de supervision complémentaires ont été mis en place : applicatif avec Uptime Kuma, et infrastructure avec les agents GCP.</a:t>
            </a:r>
            <a:endParaRPr lang="en-US" sz="2000" dirty="0"/>
          </a:p>
        </p:txBody>
      </p:sp>
      <p:sp>
        <p:nvSpPr>
          <p:cNvPr id="4" name="Text 2"/>
          <p:cNvSpPr/>
          <p:nvPr/>
        </p:nvSpPr>
        <p:spPr>
          <a:xfrm>
            <a:off x="518755" y="2463775"/>
            <a:ext cx="3747968" cy="241221"/>
          </a:xfrm>
          <a:prstGeom prst="rect">
            <a:avLst/>
          </a:prstGeom>
          <a:noFill/>
          <a:ln/>
        </p:spPr>
        <p:txBody>
          <a:bodyPr wrap="none" lIns="0" tIns="0" rIns="0" bIns="0" rtlCol="0" anchor="t"/>
          <a:lstStyle/>
          <a:p>
            <a:pPr marL="0" indent="0" algn="l">
              <a:lnSpc>
                <a:spcPts val="1900"/>
              </a:lnSpc>
              <a:buNone/>
            </a:pPr>
            <a:r>
              <a:rPr lang="en-US" sz="2000" dirty="0">
                <a:solidFill>
                  <a:srgbClr val="124E73"/>
                </a:solidFill>
                <a:latin typeface="MuseoModerno Medium" pitchFamily="34" charset="0"/>
                <a:ea typeface="MuseoModerno Medium" pitchFamily="34" charset="-122"/>
                <a:cs typeface="MuseoModerno Medium" pitchFamily="34" charset="-120"/>
              </a:rPr>
              <a:t>Uptime Kuma — Supervision applicative</a:t>
            </a:r>
            <a:endParaRPr lang="en-US" sz="2000" dirty="0"/>
          </a:p>
        </p:txBody>
      </p:sp>
      <p:sp>
        <p:nvSpPr>
          <p:cNvPr id="5" name="Text 3"/>
          <p:cNvSpPr/>
          <p:nvPr/>
        </p:nvSpPr>
        <p:spPr>
          <a:xfrm>
            <a:off x="198784" y="2790463"/>
            <a:ext cx="6300243" cy="439102"/>
          </a:xfrm>
          <a:prstGeom prst="rect">
            <a:avLst/>
          </a:prstGeom>
          <a:noFill/>
          <a:ln/>
        </p:spPr>
        <p:txBody>
          <a:bodyPr wrap="square" lIns="0" tIns="0" rIns="0" bIns="0" rtlCol="0" anchor="t"/>
          <a:lstStyle/>
          <a:p>
            <a:pPr marL="0" indent="0" algn="l">
              <a:lnSpc>
                <a:spcPts val="1700"/>
              </a:lnSpc>
              <a:buNone/>
            </a:pPr>
            <a:r>
              <a:rPr lang="en-US" sz="1600" dirty="0">
                <a:solidFill>
                  <a:srgbClr val="2B4150"/>
                </a:solidFill>
                <a:latin typeface="Source Sans 3" pitchFamily="34" charset="0"/>
                <a:ea typeface="Source Sans 3" pitchFamily="34" charset="-122"/>
                <a:cs typeface="Source Sans 3" pitchFamily="34" charset="-120"/>
              </a:rPr>
              <a:t>Uptime Kuma est un applicatif de supervision open-source auto-hébergeable qui centralise la surveillance de plusieurs services. Il offre :</a:t>
            </a:r>
            <a:endParaRPr lang="en-US" sz="1600" dirty="0"/>
          </a:p>
        </p:txBody>
      </p:sp>
      <p:sp>
        <p:nvSpPr>
          <p:cNvPr id="6" name="Text 4"/>
          <p:cNvSpPr/>
          <p:nvPr/>
        </p:nvSpPr>
        <p:spPr>
          <a:xfrm>
            <a:off x="198784" y="3392805"/>
            <a:ext cx="6300244" cy="1527453"/>
          </a:xfrm>
          <a:prstGeom prst="rect">
            <a:avLst/>
          </a:prstGeom>
          <a:noFill/>
          <a:ln/>
        </p:spPr>
        <p:txBody>
          <a:bodyPr wrap="square" lIns="0" tIns="0" rIns="0" bIns="0" rtlCol="0" anchor="t"/>
          <a:lstStyle/>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Sondes</a:t>
            </a:r>
            <a:r>
              <a:rPr lang="en-US" sz="1600" dirty="0">
                <a:solidFill>
                  <a:srgbClr val="2B4150"/>
                </a:solidFill>
                <a:latin typeface="Source Sans 3" pitchFamily="34" charset="0"/>
                <a:ea typeface="Source Sans 3" pitchFamily="34" charset="-122"/>
                <a:cs typeface="Source Sans 3" pitchFamily="34" charset="-120"/>
              </a:rPr>
              <a:t> : vérification de la disponibilité des endpoints (HTTP, TCP, ping…)</a:t>
            </a:r>
            <a:endParaRPr lang="en-US" sz="1600" dirty="0"/>
          </a:p>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Temps de réponse</a:t>
            </a:r>
            <a:r>
              <a:rPr lang="en-US" sz="1600" dirty="0">
                <a:solidFill>
                  <a:srgbClr val="2B4150"/>
                </a:solidFill>
                <a:latin typeface="Source Sans 3" pitchFamily="34" charset="0"/>
                <a:ea typeface="Source Sans 3" pitchFamily="34" charset="-122"/>
                <a:cs typeface="Source Sans 3" pitchFamily="34" charset="-120"/>
              </a:rPr>
              <a:t> en temps réel du serveur</a:t>
            </a:r>
            <a:endParaRPr lang="en-US" sz="1600" dirty="0"/>
          </a:p>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Alertes</a:t>
            </a:r>
            <a:r>
              <a:rPr lang="en-US" sz="1600" dirty="0">
                <a:solidFill>
                  <a:srgbClr val="2B4150"/>
                </a:solidFill>
                <a:latin typeface="Source Sans 3" pitchFamily="34" charset="0"/>
                <a:ea typeface="Source Sans 3" pitchFamily="34" charset="-122"/>
                <a:cs typeface="Source Sans 3" pitchFamily="34" charset="-120"/>
              </a:rPr>
              <a:t> configurables avec seuils personnalisés</a:t>
            </a:r>
            <a:endParaRPr lang="en-US" sz="1600" dirty="0"/>
          </a:p>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Notifications</a:t>
            </a:r>
            <a:r>
              <a:rPr lang="en-US" sz="1600" dirty="0">
                <a:solidFill>
                  <a:srgbClr val="2B4150"/>
                </a:solidFill>
                <a:latin typeface="Source Sans 3" pitchFamily="34" charset="0"/>
                <a:ea typeface="Source Sans 3" pitchFamily="34" charset="-122"/>
                <a:cs typeface="Source Sans 3" pitchFamily="34" charset="-120"/>
              </a:rPr>
              <a:t> (email, Telegram, Slack…) pour l'astreinte</a:t>
            </a:r>
            <a:endParaRPr lang="en-US" sz="1600" dirty="0"/>
          </a:p>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Sauvegarde</a:t>
            </a:r>
            <a:r>
              <a:rPr lang="en-US" sz="1600" dirty="0">
                <a:solidFill>
                  <a:srgbClr val="2B4150"/>
                </a:solidFill>
                <a:latin typeface="Source Sans 3" pitchFamily="34" charset="0"/>
                <a:ea typeface="Source Sans 3" pitchFamily="34" charset="-122"/>
                <a:cs typeface="Source Sans 3" pitchFamily="34" charset="-120"/>
              </a:rPr>
              <a:t> de la configuration et collecte de </a:t>
            </a:r>
            <a:r>
              <a:rPr lang="en-US" sz="1600" dirty="0" err="1">
                <a:solidFill>
                  <a:srgbClr val="2B4150"/>
                </a:solidFill>
                <a:latin typeface="Source Sans 3" pitchFamily="34" charset="0"/>
                <a:ea typeface="Source Sans 3" pitchFamily="34" charset="-122"/>
                <a:cs typeface="Source Sans 3" pitchFamily="34" charset="-120"/>
              </a:rPr>
              <a:t>statistiques</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en</a:t>
            </a:r>
            <a:r>
              <a:rPr lang="en-US" sz="1600" dirty="0">
                <a:solidFill>
                  <a:srgbClr val="2B4150"/>
                </a:solidFill>
                <a:latin typeface="Source Sans 3" pitchFamily="34" charset="0"/>
                <a:ea typeface="Source Sans 3" pitchFamily="34" charset="-122"/>
                <a:cs typeface="Source Sans 3" pitchFamily="34" charset="-120"/>
              </a:rPr>
              <a:t> temps reel</a:t>
            </a:r>
            <a:endParaRPr lang="en-US" sz="1600" dirty="0"/>
          </a:p>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Pages de statut</a:t>
            </a:r>
            <a:r>
              <a:rPr lang="en-US" sz="1600" dirty="0">
                <a:solidFill>
                  <a:srgbClr val="2B4150"/>
                </a:solidFill>
                <a:latin typeface="Source Sans 3" pitchFamily="34" charset="0"/>
                <a:ea typeface="Source Sans 3" pitchFamily="34" charset="-122"/>
                <a:cs typeface="Source Sans 3" pitchFamily="34" charset="-120"/>
              </a:rPr>
              <a:t> publiques pour communiquer les incidents</a:t>
            </a:r>
            <a:endParaRPr lang="en-US" sz="1600" dirty="0"/>
          </a:p>
        </p:txBody>
      </p:sp>
      <p:sp>
        <p:nvSpPr>
          <p:cNvPr id="7" name="Shape 5"/>
          <p:cNvSpPr/>
          <p:nvPr/>
        </p:nvSpPr>
        <p:spPr>
          <a:xfrm>
            <a:off x="6772156" y="1872675"/>
            <a:ext cx="7500435" cy="3646586"/>
          </a:xfrm>
          <a:prstGeom prst="roundRect">
            <a:avLst>
              <a:gd name="adj" fmla="val 734"/>
            </a:avLst>
          </a:prstGeom>
          <a:solidFill>
            <a:srgbClr val="325F7B"/>
          </a:solidFill>
          <a:ln/>
        </p:spPr>
      </p:sp>
      <p:sp>
        <p:nvSpPr>
          <p:cNvPr id="8" name="Text 6"/>
          <p:cNvSpPr/>
          <p:nvPr/>
        </p:nvSpPr>
        <p:spPr>
          <a:xfrm>
            <a:off x="6926580" y="2036951"/>
            <a:ext cx="4090868" cy="241221"/>
          </a:xfrm>
          <a:prstGeom prst="rect">
            <a:avLst/>
          </a:prstGeom>
          <a:noFill/>
          <a:ln/>
        </p:spPr>
        <p:txBody>
          <a:bodyPr wrap="none" lIns="0" tIns="0" rIns="0" bIns="0" rtlCol="0" anchor="t"/>
          <a:lstStyle/>
          <a:p>
            <a:pPr marL="0" indent="0" algn="l">
              <a:lnSpc>
                <a:spcPts val="1900"/>
              </a:lnSpc>
              <a:buNone/>
            </a:pPr>
            <a:r>
              <a:rPr lang="en-US" dirty="0">
                <a:solidFill>
                  <a:srgbClr val="FFFFFF"/>
                </a:solidFill>
                <a:latin typeface="MuseoModerno Medium" pitchFamily="34" charset="0"/>
                <a:ea typeface="MuseoModerno Medium" pitchFamily="34" charset="-122"/>
                <a:cs typeface="MuseoModerno Medium" pitchFamily="34" charset="-120"/>
              </a:rPr>
              <a:t>Métriques GCP — Supervision infrastructure</a:t>
            </a:r>
            <a:endParaRPr lang="en-US" dirty="0"/>
          </a:p>
        </p:txBody>
      </p:sp>
      <p:sp>
        <p:nvSpPr>
          <p:cNvPr id="9" name="Text 7"/>
          <p:cNvSpPr/>
          <p:nvPr/>
        </p:nvSpPr>
        <p:spPr>
          <a:xfrm>
            <a:off x="6926580" y="2322814"/>
            <a:ext cx="6441877" cy="658654"/>
          </a:xfrm>
          <a:prstGeom prst="rect">
            <a:avLst/>
          </a:prstGeom>
          <a:noFill/>
          <a:ln/>
        </p:spPr>
        <p:txBody>
          <a:bodyPr wrap="square" lIns="0" tIns="0" rIns="0" bIns="0" rtlCol="0" anchor="t"/>
          <a:lstStyle/>
          <a:p>
            <a:pPr marL="0" indent="0" algn="l">
              <a:lnSpc>
                <a:spcPts val="1700"/>
              </a:lnSpc>
              <a:buNone/>
            </a:pPr>
            <a:r>
              <a:rPr lang="en-US" sz="1600" dirty="0">
                <a:solidFill>
                  <a:srgbClr val="FFFFFF"/>
                </a:solidFill>
                <a:latin typeface="Source Sans 3" pitchFamily="34" charset="0"/>
                <a:ea typeface="Source Sans 3" pitchFamily="34" charset="-122"/>
                <a:cs typeface="Source Sans 3" pitchFamily="34" charset="-120"/>
              </a:rPr>
              <a:t>Via un </a:t>
            </a:r>
            <a:r>
              <a:rPr lang="en-US" sz="1600" b="1" dirty="0">
                <a:solidFill>
                  <a:srgbClr val="FFFFFF"/>
                </a:solidFill>
                <a:latin typeface="Source Sans 3" pitchFamily="34" charset="0"/>
                <a:ea typeface="Source Sans 3" pitchFamily="34" charset="-122"/>
                <a:cs typeface="Source Sans 3" pitchFamily="34" charset="-120"/>
              </a:rPr>
              <a:t>agent installé sur la VM hébergée par GCP</a:t>
            </a:r>
            <a:r>
              <a:rPr lang="en-US" sz="1600" dirty="0">
                <a:solidFill>
                  <a:srgbClr val="FFFFFF"/>
                </a:solidFill>
                <a:latin typeface="Source Sans 3" pitchFamily="34" charset="0"/>
                <a:ea typeface="Source Sans 3" pitchFamily="34" charset="-122"/>
                <a:cs typeface="Source Sans 3" pitchFamily="34" charset="-120"/>
              </a:rPr>
              <a:t>, des métriques hardware sont collectées : CPU, mémoire, disque, réseau. Ces métriques complètent Uptime Kuma qui surveille la couche applicative — les deux niveaux sont </a:t>
            </a:r>
            <a:r>
              <a:rPr lang="en-US" sz="1600" b="1" dirty="0">
                <a:solidFill>
                  <a:srgbClr val="FFFFFF"/>
                </a:solidFill>
                <a:latin typeface="Source Sans 3" pitchFamily="34" charset="0"/>
                <a:ea typeface="Source Sans 3" pitchFamily="34" charset="-122"/>
                <a:cs typeface="Source Sans 3" pitchFamily="34" charset="-120"/>
              </a:rPr>
              <a:t>indispensables et complémentaires</a:t>
            </a:r>
            <a:r>
              <a:rPr lang="en-US" sz="1600" dirty="0">
                <a:solidFill>
                  <a:srgbClr val="FFFFFF"/>
                </a:solidFill>
                <a:latin typeface="Source Sans 3" pitchFamily="34" charset="0"/>
                <a:ea typeface="Source Sans 3" pitchFamily="34" charset="-122"/>
                <a:cs typeface="Source Sans 3" pitchFamily="34" charset="-120"/>
              </a:rPr>
              <a:t>.</a:t>
            </a:r>
            <a:endParaRPr lang="en-US" sz="1600" dirty="0"/>
          </a:p>
        </p:txBody>
      </p:sp>
      <p:sp>
        <p:nvSpPr>
          <p:cNvPr id="10" name="Text 8"/>
          <p:cNvSpPr/>
          <p:nvPr/>
        </p:nvSpPr>
        <p:spPr>
          <a:xfrm>
            <a:off x="6926580" y="3374141"/>
            <a:ext cx="3173373" cy="241221"/>
          </a:xfrm>
          <a:prstGeom prst="rect">
            <a:avLst/>
          </a:prstGeom>
          <a:noFill/>
          <a:ln/>
        </p:spPr>
        <p:txBody>
          <a:bodyPr wrap="none" lIns="0" tIns="0" rIns="0" bIns="0" rtlCol="0" anchor="t"/>
          <a:lstStyle/>
          <a:p>
            <a:pPr marL="0" indent="0" algn="l">
              <a:lnSpc>
                <a:spcPts val="1900"/>
              </a:lnSpc>
              <a:buNone/>
            </a:pPr>
            <a:r>
              <a:rPr lang="en-US" dirty="0">
                <a:solidFill>
                  <a:srgbClr val="FFFFFF"/>
                </a:solidFill>
                <a:latin typeface="MuseoModerno Medium" pitchFamily="34" charset="0"/>
                <a:ea typeface="MuseoModerno Medium" pitchFamily="34" charset="-122"/>
                <a:cs typeface="MuseoModerno Medium" pitchFamily="34" charset="-120"/>
              </a:rPr>
              <a:t>Administration mobile &amp; Astreinte</a:t>
            </a:r>
            <a:endParaRPr lang="en-US" dirty="0"/>
          </a:p>
        </p:txBody>
      </p:sp>
      <p:sp>
        <p:nvSpPr>
          <p:cNvPr id="11" name="Text 9"/>
          <p:cNvSpPr/>
          <p:nvPr/>
        </p:nvSpPr>
        <p:spPr>
          <a:xfrm>
            <a:off x="6926580" y="3633115"/>
            <a:ext cx="6441877" cy="878205"/>
          </a:xfrm>
          <a:prstGeom prst="rect">
            <a:avLst/>
          </a:prstGeom>
          <a:noFill/>
          <a:ln/>
        </p:spPr>
        <p:txBody>
          <a:bodyPr wrap="square" lIns="0" tIns="0" rIns="0" bIns="0" rtlCol="0" anchor="t"/>
          <a:lstStyle/>
          <a:p>
            <a:pPr marL="0" indent="0" algn="l">
              <a:lnSpc>
                <a:spcPts val="1700"/>
              </a:lnSpc>
              <a:buNone/>
            </a:pPr>
            <a:r>
              <a:rPr lang="en-US" sz="1600" dirty="0">
                <a:solidFill>
                  <a:srgbClr val="FFFFFF"/>
                </a:solidFill>
                <a:latin typeface="Source Sans 3" pitchFamily="34" charset="0"/>
                <a:ea typeface="Source Sans 3" pitchFamily="34" charset="-122"/>
                <a:cs typeface="Source Sans 3" pitchFamily="34" charset="-120"/>
              </a:rPr>
              <a:t>Une fois les alertes liées à une adresse mail de supervision avec les notifications activées, l'astreinte se fait dans les meilleures conditions. Il est également possible d'</a:t>
            </a:r>
            <a:r>
              <a:rPr lang="en-US" sz="1600" b="1" dirty="0">
                <a:solidFill>
                  <a:srgbClr val="FFFFFF"/>
                </a:solidFill>
                <a:latin typeface="Source Sans 3" pitchFamily="34" charset="0"/>
                <a:ea typeface="Source Sans 3" pitchFamily="34" charset="-122"/>
                <a:cs typeface="Source Sans 3" pitchFamily="34" charset="-120"/>
              </a:rPr>
              <a:t>administrer en SSH depuis un smartphone</a:t>
            </a:r>
            <a:r>
              <a:rPr lang="en-US" sz="1600" dirty="0">
                <a:solidFill>
                  <a:srgbClr val="FFFFFF"/>
                </a:solidFill>
                <a:latin typeface="Source Sans 3" pitchFamily="34" charset="0"/>
                <a:ea typeface="Source Sans 3" pitchFamily="34" charset="-122"/>
                <a:cs typeface="Source Sans 3" pitchFamily="34" charset="-120"/>
              </a:rPr>
              <a:t>, permettant de relancer les services à tout moment. Cette disponibilité permanente améliore la qualité de service globale.</a:t>
            </a:r>
            <a:endParaRPr lang="en-US" sz="1600" dirty="0"/>
          </a:p>
        </p:txBody>
      </p:sp>
      <p:sp>
        <p:nvSpPr>
          <p:cNvPr id="12" name="Text 10"/>
          <p:cNvSpPr/>
          <p:nvPr/>
        </p:nvSpPr>
        <p:spPr>
          <a:xfrm>
            <a:off x="6926579" y="4816916"/>
            <a:ext cx="6441877" cy="439102"/>
          </a:xfrm>
          <a:prstGeom prst="rect">
            <a:avLst/>
          </a:prstGeom>
          <a:noFill/>
          <a:ln/>
        </p:spPr>
        <p:txBody>
          <a:bodyPr wrap="square" lIns="0" tIns="0" rIns="0" bIns="0" rtlCol="0" anchor="t"/>
          <a:lstStyle/>
          <a:p>
            <a:pPr marL="0" indent="0" algn="l">
              <a:lnSpc>
                <a:spcPts val="1700"/>
              </a:lnSpc>
              <a:buNone/>
            </a:pPr>
            <a:r>
              <a:rPr lang="en-US" sz="1600" dirty="0">
                <a:solidFill>
                  <a:srgbClr val="FFFFFF"/>
                </a:solidFill>
                <a:latin typeface="Source Sans 3" pitchFamily="34" charset="0"/>
                <a:ea typeface="Source Sans 3" pitchFamily="34" charset="-122"/>
                <a:cs typeface="Source Sans 3" pitchFamily="34" charset="-120"/>
              </a:rPr>
              <a:t>Railway intègre aussi ses propres métriques et l'historique des commits pour un rollback rapide en cas d'incident.</a:t>
            </a:r>
            <a:endParaRPr lang="en-US" sz="1600" dirty="0"/>
          </a:p>
        </p:txBody>
      </p:sp>
      <p:pic>
        <p:nvPicPr>
          <p:cNvPr id="1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8755" y="5902852"/>
            <a:ext cx="386001" cy="386001"/>
          </a:xfrm>
          <a:prstGeom prst="rect">
            <a:avLst/>
          </a:prstGeom>
        </p:spPr>
      </p:pic>
      <p:sp>
        <p:nvSpPr>
          <p:cNvPr id="14" name="Text 11"/>
          <p:cNvSpPr/>
          <p:nvPr/>
        </p:nvSpPr>
        <p:spPr>
          <a:xfrm>
            <a:off x="518755" y="6438991"/>
            <a:ext cx="2088356" cy="241221"/>
          </a:xfrm>
          <a:prstGeom prst="rect">
            <a:avLst/>
          </a:prstGeom>
          <a:noFill/>
          <a:ln/>
        </p:spPr>
        <p:txBody>
          <a:bodyPr wrap="none" lIns="0" tIns="0" rIns="0" bIns="0" rtlCol="0" anchor="t"/>
          <a:lstStyle/>
          <a:p>
            <a:pPr marL="0" indent="0" algn="l">
              <a:lnSpc>
                <a:spcPts val="1900"/>
              </a:lnSpc>
              <a:buNone/>
            </a:pPr>
            <a:r>
              <a:rPr lang="en-US" b="1" dirty="0">
                <a:solidFill>
                  <a:srgbClr val="2B4150"/>
                </a:solidFill>
                <a:latin typeface="MuseoModerno Medium" pitchFamily="34" charset="0"/>
                <a:ea typeface="MuseoModerno Medium" pitchFamily="34" charset="-122"/>
                <a:cs typeface="MuseoModerno Medium" pitchFamily="34" charset="-120"/>
              </a:rPr>
              <a:t>Alertes &amp; Notifications</a:t>
            </a:r>
            <a:endParaRPr lang="en-US" b="1" dirty="0"/>
          </a:p>
        </p:txBody>
      </p:sp>
      <p:sp>
        <p:nvSpPr>
          <p:cNvPr id="15" name="Text 12"/>
          <p:cNvSpPr/>
          <p:nvPr/>
        </p:nvSpPr>
        <p:spPr>
          <a:xfrm>
            <a:off x="518755" y="6756008"/>
            <a:ext cx="3959185" cy="439102"/>
          </a:xfrm>
          <a:prstGeom prst="rect">
            <a:avLst/>
          </a:prstGeom>
          <a:noFill/>
          <a:ln/>
        </p:spPr>
        <p:txBody>
          <a:bodyPr wrap="square" lIns="0" tIns="0" rIns="0" bIns="0" rtlCol="0" anchor="t"/>
          <a:lstStyle/>
          <a:p>
            <a:pPr marL="0" indent="0" algn="l">
              <a:lnSpc>
                <a:spcPts val="1700"/>
              </a:lnSpc>
              <a:buNone/>
            </a:pPr>
            <a:r>
              <a:rPr lang="en-US" sz="1400" dirty="0">
                <a:solidFill>
                  <a:srgbClr val="2B4150"/>
                </a:solidFill>
                <a:latin typeface="Source Sans 3" pitchFamily="34" charset="0"/>
                <a:ea typeface="Source Sans 3" pitchFamily="34" charset="-122"/>
                <a:cs typeface="Source Sans 3" pitchFamily="34" charset="-120"/>
              </a:rPr>
              <a:t>Configuration d'alertes sur seuils avec notifications email et mobile pour une réactivité optimale en cas d'incident.</a:t>
            </a:r>
            <a:endParaRPr lang="en-US" sz="1400" dirty="0"/>
          </a:p>
        </p:txBody>
      </p:sp>
      <p:pic>
        <p:nvPicPr>
          <p:cNvPr id="1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0682" y="5914540"/>
            <a:ext cx="386001" cy="386001"/>
          </a:xfrm>
          <a:prstGeom prst="rect">
            <a:avLst/>
          </a:prstGeom>
        </p:spPr>
      </p:pic>
      <p:sp>
        <p:nvSpPr>
          <p:cNvPr id="17" name="Text 13"/>
          <p:cNvSpPr/>
          <p:nvPr/>
        </p:nvSpPr>
        <p:spPr>
          <a:xfrm>
            <a:off x="4980682" y="6450679"/>
            <a:ext cx="2090618" cy="241221"/>
          </a:xfrm>
          <a:prstGeom prst="rect">
            <a:avLst/>
          </a:prstGeom>
          <a:noFill/>
          <a:ln/>
        </p:spPr>
        <p:txBody>
          <a:bodyPr wrap="none" lIns="0" tIns="0" rIns="0" bIns="0" rtlCol="0" anchor="t"/>
          <a:lstStyle/>
          <a:p>
            <a:pPr marL="0" indent="0" algn="l">
              <a:lnSpc>
                <a:spcPts val="1900"/>
              </a:lnSpc>
              <a:buNone/>
            </a:pPr>
            <a:r>
              <a:rPr lang="en-US" sz="1600" b="1" dirty="0">
                <a:solidFill>
                  <a:srgbClr val="2B4150"/>
                </a:solidFill>
                <a:latin typeface="MuseoModerno Medium" pitchFamily="34" charset="0"/>
                <a:ea typeface="MuseoModerno Medium" pitchFamily="34" charset="-122"/>
                <a:cs typeface="MuseoModerno Medium" pitchFamily="34" charset="-120"/>
              </a:rPr>
              <a:t>Statistiques de service</a:t>
            </a:r>
            <a:endParaRPr lang="en-US" sz="1600" b="1" dirty="0"/>
          </a:p>
        </p:txBody>
      </p:sp>
      <p:sp>
        <p:nvSpPr>
          <p:cNvPr id="18" name="Text 14"/>
          <p:cNvSpPr/>
          <p:nvPr/>
        </p:nvSpPr>
        <p:spPr>
          <a:xfrm>
            <a:off x="4995973" y="6752245"/>
            <a:ext cx="3959304" cy="658654"/>
          </a:xfrm>
          <a:prstGeom prst="rect">
            <a:avLst/>
          </a:prstGeom>
          <a:noFill/>
          <a:ln/>
        </p:spPr>
        <p:txBody>
          <a:bodyPr wrap="square" lIns="0" tIns="0" rIns="0" bIns="0" rtlCol="0" anchor="t"/>
          <a:lstStyle/>
          <a:p>
            <a:pPr marL="0" indent="0" algn="l">
              <a:lnSpc>
                <a:spcPts val="1700"/>
              </a:lnSpc>
              <a:buNone/>
            </a:pPr>
            <a:r>
              <a:rPr lang="en-US" sz="1400" dirty="0">
                <a:solidFill>
                  <a:srgbClr val="2B4150"/>
                </a:solidFill>
                <a:latin typeface="Source Sans 3" pitchFamily="34" charset="0"/>
                <a:ea typeface="Source Sans 3" pitchFamily="34" charset="-122"/>
                <a:cs typeface="Source Sans 3" pitchFamily="34" charset="-120"/>
              </a:rPr>
              <a:t>Collecte continue des métriques applicatives (uptime, latence) et infrastructure (CPU, RAM, réseau) pour le suivi de la qualité de service.</a:t>
            </a:r>
            <a:endParaRPr lang="en-US" sz="1400" dirty="0"/>
          </a:p>
        </p:txBody>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44871" y="5902853"/>
            <a:ext cx="386001" cy="386001"/>
          </a:xfrm>
          <a:prstGeom prst="rect">
            <a:avLst/>
          </a:prstGeom>
        </p:spPr>
      </p:pic>
      <p:sp>
        <p:nvSpPr>
          <p:cNvPr id="20" name="Text 15"/>
          <p:cNvSpPr/>
          <p:nvPr/>
        </p:nvSpPr>
        <p:spPr>
          <a:xfrm>
            <a:off x="9444871" y="6438992"/>
            <a:ext cx="2232898" cy="241221"/>
          </a:xfrm>
          <a:prstGeom prst="rect">
            <a:avLst/>
          </a:prstGeom>
          <a:noFill/>
          <a:ln/>
        </p:spPr>
        <p:txBody>
          <a:bodyPr wrap="none" lIns="0" tIns="0" rIns="0" bIns="0" rtlCol="0" anchor="t"/>
          <a:lstStyle/>
          <a:p>
            <a:pPr marL="0" indent="0" algn="l">
              <a:lnSpc>
                <a:spcPts val="1900"/>
              </a:lnSpc>
              <a:buNone/>
            </a:pPr>
            <a:r>
              <a:rPr lang="en-US" sz="1600" b="1" dirty="0">
                <a:solidFill>
                  <a:srgbClr val="2B4150"/>
                </a:solidFill>
                <a:latin typeface="MuseoModerno Medium" pitchFamily="34" charset="0"/>
                <a:ea typeface="MuseoModerno Medium" pitchFamily="34" charset="-122"/>
                <a:cs typeface="MuseoModerno Medium" pitchFamily="34" charset="-120"/>
              </a:rPr>
              <a:t>Administration distante</a:t>
            </a:r>
            <a:endParaRPr lang="en-US" sz="1600" b="1" dirty="0"/>
          </a:p>
        </p:txBody>
      </p:sp>
      <p:sp>
        <p:nvSpPr>
          <p:cNvPr id="21" name="Text 16"/>
          <p:cNvSpPr/>
          <p:nvPr/>
        </p:nvSpPr>
        <p:spPr>
          <a:xfrm>
            <a:off x="9445109" y="6756008"/>
            <a:ext cx="3959185" cy="658654"/>
          </a:xfrm>
          <a:prstGeom prst="rect">
            <a:avLst/>
          </a:prstGeom>
          <a:noFill/>
          <a:ln/>
        </p:spPr>
        <p:txBody>
          <a:bodyPr wrap="square" lIns="0" tIns="0" rIns="0" bIns="0" rtlCol="0" anchor="t"/>
          <a:lstStyle/>
          <a:p>
            <a:pPr marL="0" indent="0" algn="l">
              <a:lnSpc>
                <a:spcPts val="1700"/>
              </a:lnSpc>
              <a:buNone/>
            </a:pPr>
            <a:r>
              <a:rPr lang="en-US" sz="1400" dirty="0">
                <a:solidFill>
                  <a:srgbClr val="2B4150"/>
                </a:solidFill>
                <a:latin typeface="Source Sans 3" pitchFamily="34" charset="0"/>
                <a:ea typeface="Source Sans 3" pitchFamily="34" charset="-122"/>
                <a:cs typeface="Source Sans 3" pitchFamily="34" charset="-120"/>
              </a:rPr>
              <a:t>SSH depuis smartphone, tableau de bord Railway et console GCP permettent une supervision et une intervention à tout moment, depuis n'importe où.</a:t>
            </a:r>
            <a:endParaRPr lang="en-US" sz="1400" dirty="0"/>
          </a:p>
        </p:txBody>
      </p:sp>
      <p:pic>
        <p:nvPicPr>
          <p:cNvPr id="23" name="Image 22">
            <a:extLst>
              <a:ext uri="{FF2B5EF4-FFF2-40B4-BE49-F238E27FC236}">
                <a16:creationId xmlns:a16="http://schemas.microsoft.com/office/drawing/2014/main" id="{8938AFF5-5049-C1EE-9957-1DACB84AC31D}"/>
              </a:ext>
            </a:extLst>
          </p:cNvPr>
          <p:cNvPicPr>
            <a:picLocks noChangeAspect="1"/>
          </p:cNvPicPr>
          <p:nvPr/>
        </p:nvPicPr>
        <p:blipFill>
          <a:blip r:embed="rId9"/>
          <a:stretch>
            <a:fillRect/>
          </a:stretch>
        </p:blipFill>
        <p:spPr>
          <a:xfrm>
            <a:off x="10536676" y="7416285"/>
            <a:ext cx="4001058" cy="7906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pic>
        <p:nvPicPr>
          <p:cNvPr id="3" name="Image 2">
            <a:extLst>
              <a:ext uri="{FF2B5EF4-FFF2-40B4-BE49-F238E27FC236}">
                <a16:creationId xmlns:a16="http://schemas.microsoft.com/office/drawing/2014/main" id="{EE5017E5-C694-AF8E-F28F-720B97102F93}"/>
              </a:ext>
            </a:extLst>
          </p:cNvPr>
          <p:cNvPicPr>
            <a:picLocks noChangeAspect="1"/>
          </p:cNvPicPr>
          <p:nvPr/>
        </p:nvPicPr>
        <p:blipFill>
          <a:blip r:embed="rId4"/>
          <a:stretch>
            <a:fillRect/>
          </a:stretch>
        </p:blipFill>
        <p:spPr>
          <a:xfrm>
            <a:off x="8092728" y="2088421"/>
            <a:ext cx="5450993" cy="3717463"/>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pic>
        <p:nvPicPr>
          <p:cNvPr id="4" name="Image 3">
            <a:extLst>
              <a:ext uri="{FF2B5EF4-FFF2-40B4-BE49-F238E27FC236}">
                <a16:creationId xmlns:a16="http://schemas.microsoft.com/office/drawing/2014/main" id="{C4088468-13D6-9A3F-3718-B99AC9477F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17" y="6227057"/>
            <a:ext cx="13318165" cy="790685"/>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
        <p:nvSpPr>
          <p:cNvPr id="5" name="Text 0">
            <a:extLst>
              <a:ext uri="{FF2B5EF4-FFF2-40B4-BE49-F238E27FC236}">
                <a16:creationId xmlns:a16="http://schemas.microsoft.com/office/drawing/2014/main" id="{FB10F7A9-32D7-4CB7-F20A-AF1F61CDFAFF}"/>
              </a:ext>
            </a:extLst>
          </p:cNvPr>
          <p:cNvSpPr/>
          <p:nvPr/>
        </p:nvSpPr>
        <p:spPr>
          <a:xfrm>
            <a:off x="656117" y="463224"/>
            <a:ext cx="7043857" cy="519946"/>
          </a:xfrm>
          <a:prstGeom prst="rect">
            <a:avLst/>
          </a:prstGeom>
          <a:noFill/>
          <a:ln/>
        </p:spPr>
        <p:txBody>
          <a:bodyPr wrap="none" lIns="0" tIns="0" rIns="0" bIns="0" rtlCol="0" anchor="t"/>
          <a:lstStyle/>
          <a:p>
            <a:pPr marL="0" indent="0" algn="l">
              <a:lnSpc>
                <a:spcPts val="4050"/>
              </a:lnSpc>
              <a:buNone/>
            </a:pPr>
            <a:r>
              <a:rPr lang="en-US" sz="3900" dirty="0">
                <a:solidFill>
                  <a:srgbClr val="124E73"/>
                </a:solidFill>
                <a:latin typeface="MuseoModerno Medium" pitchFamily="34" charset="0"/>
                <a:ea typeface="MuseoModerno Medium" pitchFamily="34" charset="-122"/>
                <a:cs typeface="MuseoModerno Medium" pitchFamily="34" charset="-120"/>
              </a:rPr>
              <a:t>Pré-</a:t>
            </a:r>
            <a:r>
              <a:rPr lang="en-US" sz="3900" dirty="0" err="1">
                <a:solidFill>
                  <a:srgbClr val="124E73"/>
                </a:solidFill>
                <a:latin typeface="MuseoModerno Medium" pitchFamily="34" charset="0"/>
                <a:ea typeface="MuseoModerno Medium" pitchFamily="34" charset="-122"/>
                <a:cs typeface="MuseoModerno Medium" pitchFamily="34" charset="-120"/>
              </a:rPr>
              <a:t>Requis</a:t>
            </a:r>
            <a:r>
              <a:rPr lang="en-US" sz="3900" dirty="0">
                <a:solidFill>
                  <a:srgbClr val="124E73"/>
                </a:solidFill>
                <a:latin typeface="MuseoModerno Medium" pitchFamily="34" charset="0"/>
                <a:ea typeface="MuseoModerno Medium" pitchFamily="34" charset="-122"/>
                <a:cs typeface="MuseoModerno Medium" pitchFamily="34" charset="-120"/>
              </a:rPr>
              <a:t> a la supervision</a:t>
            </a:r>
            <a:endParaRPr lang="en-US" sz="3900" dirty="0"/>
          </a:p>
        </p:txBody>
      </p:sp>
      <p:sp>
        <p:nvSpPr>
          <p:cNvPr id="6" name="Text 9">
            <a:extLst>
              <a:ext uri="{FF2B5EF4-FFF2-40B4-BE49-F238E27FC236}">
                <a16:creationId xmlns:a16="http://schemas.microsoft.com/office/drawing/2014/main" id="{ED686967-08CE-F0A3-AE84-9068AA00D1BE}"/>
              </a:ext>
            </a:extLst>
          </p:cNvPr>
          <p:cNvSpPr/>
          <p:nvPr/>
        </p:nvSpPr>
        <p:spPr>
          <a:xfrm>
            <a:off x="225298" y="1335539"/>
            <a:ext cx="13206217" cy="668536"/>
          </a:xfrm>
          <a:prstGeom prst="rect">
            <a:avLst/>
          </a:prstGeom>
          <a:noFill/>
          <a:ln/>
        </p:spPr>
        <p:txBody>
          <a:bodyPr wrap="square" lIns="0" tIns="0" rIns="0" bIns="0" rtlCol="0" anchor="t"/>
          <a:lstStyle/>
          <a:p>
            <a:pPr marL="0" indent="0" algn="l">
              <a:buNone/>
            </a:pPr>
            <a:r>
              <a:rPr lang="en-US" sz="2000" b="1" dirty="0">
                <a:solidFill>
                  <a:srgbClr val="2B4150"/>
                </a:solidFill>
                <a:latin typeface="Source Sans 3" pitchFamily="34" charset="0"/>
                <a:ea typeface="Source Sans 3" pitchFamily="34" charset="-122"/>
                <a:cs typeface="Source Sans 3" pitchFamily="34" charset="-120"/>
              </a:rPr>
              <a:t>Pour GCP :</a:t>
            </a:r>
          </a:p>
          <a:p>
            <a:pPr marL="0" indent="0" algn="l">
              <a:buNone/>
            </a:pPr>
            <a:endParaRPr lang="en-US" sz="2000" dirty="0">
              <a:solidFill>
                <a:srgbClr val="2B4150"/>
              </a:solidFill>
              <a:latin typeface="Source Sans 3" pitchFamily="34" charset="0"/>
              <a:ea typeface="Source Sans 3" pitchFamily="34" charset="-122"/>
              <a:cs typeface="Source Sans 3" pitchFamily="34" charset="-120"/>
            </a:endParaRPr>
          </a:p>
          <a:p>
            <a:pPr marL="0" indent="0" algn="l">
              <a:buNone/>
            </a:pPr>
            <a:r>
              <a:rPr lang="en-US" sz="2000" dirty="0" err="1">
                <a:solidFill>
                  <a:srgbClr val="2B4150"/>
                </a:solidFill>
                <a:latin typeface="Source Sans 3" pitchFamily="34" charset="0"/>
              </a:rPr>
              <a:t>Cela</a:t>
            </a:r>
            <a:r>
              <a:rPr lang="en-US" sz="2000" dirty="0">
                <a:solidFill>
                  <a:srgbClr val="2B4150"/>
                </a:solidFill>
                <a:latin typeface="Source Sans 3" pitchFamily="34" charset="0"/>
              </a:rPr>
              <a:t> </a:t>
            </a:r>
            <a:r>
              <a:rPr lang="en-US" sz="2000" dirty="0" err="1">
                <a:solidFill>
                  <a:srgbClr val="2B4150"/>
                </a:solidFill>
                <a:latin typeface="Source Sans 3" pitchFamily="34" charset="0"/>
              </a:rPr>
              <a:t>nécessite</a:t>
            </a:r>
            <a:r>
              <a:rPr lang="en-US" sz="2000" dirty="0">
                <a:solidFill>
                  <a:srgbClr val="2B4150"/>
                </a:solidFill>
                <a:latin typeface="Source Sans 3" pitchFamily="34" charset="0"/>
              </a:rPr>
              <a:t> </a:t>
            </a:r>
            <a:r>
              <a:rPr lang="en-US" sz="2000" dirty="0" err="1">
                <a:solidFill>
                  <a:srgbClr val="2B4150"/>
                </a:solidFill>
                <a:latin typeface="Source Sans 3" pitchFamily="34" charset="0"/>
              </a:rPr>
              <a:t>d’ajouter</a:t>
            </a:r>
            <a:r>
              <a:rPr lang="en-US" sz="2000" dirty="0">
                <a:solidFill>
                  <a:srgbClr val="2B4150"/>
                </a:solidFill>
                <a:latin typeface="Source Sans 3" pitchFamily="34" charset="0"/>
              </a:rPr>
              <a:t> un agent dans le VM , suite à </a:t>
            </a:r>
            <a:r>
              <a:rPr lang="en-US" sz="2000" dirty="0" err="1">
                <a:solidFill>
                  <a:srgbClr val="2B4150"/>
                </a:solidFill>
                <a:latin typeface="Source Sans 3" pitchFamily="34" charset="0"/>
              </a:rPr>
              <a:t>cela</a:t>
            </a:r>
            <a:r>
              <a:rPr lang="en-US" sz="2000" dirty="0">
                <a:solidFill>
                  <a:srgbClr val="2B4150"/>
                </a:solidFill>
                <a:latin typeface="Source Sans 3" pitchFamily="34" charset="0"/>
              </a:rPr>
              <a:t> le monitoring</a:t>
            </a:r>
          </a:p>
          <a:p>
            <a:pPr marL="0" indent="0" algn="l">
              <a:buNone/>
            </a:pPr>
            <a:r>
              <a:rPr lang="en-US" sz="2000" dirty="0">
                <a:solidFill>
                  <a:srgbClr val="2B4150"/>
                </a:solidFill>
                <a:latin typeface="Source Sans 3" pitchFamily="34" charset="0"/>
              </a:rPr>
              <a:t>Propose </a:t>
            </a:r>
            <a:r>
              <a:rPr lang="en-US" sz="2000" dirty="0" err="1">
                <a:solidFill>
                  <a:srgbClr val="2B4150"/>
                </a:solidFill>
                <a:latin typeface="Source Sans 3" pitchFamily="34" charset="0"/>
              </a:rPr>
              <a:t>énormement</a:t>
            </a:r>
            <a:r>
              <a:rPr lang="en-US" sz="2000" dirty="0">
                <a:solidFill>
                  <a:srgbClr val="2B4150"/>
                </a:solidFill>
                <a:latin typeface="Source Sans 3" pitchFamily="34" charset="0"/>
              </a:rPr>
              <a:t> de choses très </a:t>
            </a:r>
            <a:r>
              <a:rPr lang="en-US" sz="2000" dirty="0" err="1">
                <a:solidFill>
                  <a:srgbClr val="2B4150"/>
                </a:solidFill>
                <a:latin typeface="Source Sans 3" pitchFamily="34" charset="0"/>
              </a:rPr>
              <a:t>pertinentes</a:t>
            </a:r>
            <a:r>
              <a:rPr lang="en-US" sz="2000" dirty="0">
                <a:solidFill>
                  <a:srgbClr val="2B4150"/>
                </a:solidFill>
                <a:latin typeface="Source Sans 3" pitchFamily="34" charset="0"/>
              </a:rPr>
              <a:t>.</a:t>
            </a:r>
          </a:p>
          <a:p>
            <a:pPr marL="0" indent="0" algn="l">
              <a:buNone/>
            </a:pPr>
            <a:endParaRPr lang="en-US" sz="2000" dirty="0">
              <a:solidFill>
                <a:srgbClr val="2B4150"/>
              </a:solidFill>
              <a:latin typeface="Source Sans 3" pitchFamily="34" charset="0"/>
            </a:endParaRPr>
          </a:p>
          <a:p>
            <a:pPr marL="0" indent="0" algn="l">
              <a:buNone/>
            </a:pPr>
            <a:r>
              <a:rPr lang="en-US" sz="2000" b="1" dirty="0">
                <a:solidFill>
                  <a:srgbClr val="2B4150"/>
                </a:solidFill>
                <a:latin typeface="Source Sans 3" pitchFamily="34" charset="0"/>
              </a:rPr>
              <a:t>Pour </a:t>
            </a:r>
            <a:r>
              <a:rPr lang="en-US" sz="2000" b="1" dirty="0" err="1">
                <a:solidFill>
                  <a:srgbClr val="2B4150"/>
                </a:solidFill>
                <a:latin typeface="Source Sans 3" pitchFamily="34" charset="0"/>
              </a:rPr>
              <a:t>RailWay</a:t>
            </a:r>
            <a:r>
              <a:rPr lang="en-US" sz="2000" b="1" dirty="0">
                <a:solidFill>
                  <a:srgbClr val="2B4150"/>
                </a:solidFill>
                <a:latin typeface="Source Sans 3" pitchFamily="34" charset="0"/>
              </a:rPr>
              <a:t> :</a:t>
            </a:r>
          </a:p>
          <a:p>
            <a:pPr marL="0" indent="0" algn="l">
              <a:buNone/>
            </a:pPr>
            <a:endParaRPr lang="en-US" sz="2000" dirty="0">
              <a:solidFill>
                <a:srgbClr val="2B4150"/>
              </a:solidFill>
              <a:latin typeface="Source Sans 3" pitchFamily="34" charset="0"/>
            </a:endParaRPr>
          </a:p>
          <a:p>
            <a:pPr marL="0" indent="0" algn="l">
              <a:buNone/>
            </a:pPr>
            <a:r>
              <a:rPr lang="en-US" sz="2000" dirty="0">
                <a:solidFill>
                  <a:srgbClr val="2B4150"/>
                </a:solidFill>
                <a:latin typeface="Source Sans 3" pitchFamily="34" charset="0"/>
              </a:rPr>
              <a:t>Tout se </a:t>
            </a:r>
            <a:r>
              <a:rPr lang="en-US" sz="2000" dirty="0" err="1">
                <a:solidFill>
                  <a:srgbClr val="2B4150"/>
                </a:solidFill>
                <a:latin typeface="Source Sans 3" pitchFamily="34" charset="0"/>
              </a:rPr>
              <a:t>situe</a:t>
            </a:r>
            <a:r>
              <a:rPr lang="en-US" sz="2000" dirty="0">
                <a:solidFill>
                  <a:srgbClr val="2B4150"/>
                </a:solidFill>
                <a:latin typeface="Source Sans 3" pitchFamily="34" charset="0"/>
              </a:rPr>
              <a:t> à </a:t>
            </a:r>
            <a:r>
              <a:rPr lang="en-US" sz="2000" dirty="0" err="1">
                <a:solidFill>
                  <a:srgbClr val="2B4150"/>
                </a:solidFill>
                <a:latin typeface="Source Sans 3" pitchFamily="34" charset="0"/>
              </a:rPr>
              <a:t>même</a:t>
            </a:r>
            <a:r>
              <a:rPr lang="en-US" sz="2000" dirty="0">
                <a:solidFill>
                  <a:srgbClr val="2B4150"/>
                </a:solidFill>
                <a:latin typeface="Source Sans 3" pitchFamily="34" charset="0"/>
              </a:rPr>
              <a:t> le </a:t>
            </a:r>
            <a:r>
              <a:rPr lang="en-US" sz="2000" dirty="0" err="1">
                <a:solidFill>
                  <a:srgbClr val="2B4150"/>
                </a:solidFill>
                <a:latin typeface="Source Sans 3" pitchFamily="34" charset="0"/>
              </a:rPr>
              <a:t>projet</a:t>
            </a:r>
            <a:r>
              <a:rPr lang="en-US" sz="2000" dirty="0">
                <a:solidFill>
                  <a:srgbClr val="2B4150"/>
                </a:solidFill>
                <a:latin typeface="Source Sans 3" pitchFamily="34" charset="0"/>
              </a:rPr>
              <a:t> , </a:t>
            </a:r>
            <a:r>
              <a:rPr lang="en-US" sz="2000" dirty="0" err="1">
                <a:solidFill>
                  <a:srgbClr val="2B4150"/>
                </a:solidFill>
                <a:latin typeface="Source Sans 3" pitchFamily="34" charset="0"/>
              </a:rPr>
              <a:t>est</a:t>
            </a:r>
            <a:r>
              <a:rPr lang="en-US" sz="2000" dirty="0">
                <a:solidFill>
                  <a:srgbClr val="2B4150"/>
                </a:solidFill>
                <a:latin typeface="Source Sans 3" pitchFamily="34" charset="0"/>
              </a:rPr>
              <a:t> déjà </a:t>
            </a:r>
            <a:r>
              <a:rPr lang="en-US" sz="2000" dirty="0" err="1">
                <a:solidFill>
                  <a:srgbClr val="2B4150"/>
                </a:solidFill>
                <a:latin typeface="Source Sans 3" pitchFamily="34" charset="0"/>
              </a:rPr>
              <a:t>pré-configuré</a:t>
            </a:r>
            <a:r>
              <a:rPr lang="en-US" sz="2000" dirty="0">
                <a:solidFill>
                  <a:srgbClr val="2B4150"/>
                </a:solidFill>
                <a:latin typeface="Source Sans 3" pitchFamily="34" charset="0"/>
              </a:rPr>
              <a:t> un dashboard.</a:t>
            </a:r>
          </a:p>
          <a:p>
            <a:pPr marL="0" indent="0" algn="l">
              <a:buNone/>
            </a:pPr>
            <a:endParaRPr lang="en-US" sz="2000" dirty="0">
              <a:solidFill>
                <a:srgbClr val="2B4150"/>
              </a:solidFill>
              <a:latin typeface="Source Sans 3" pitchFamily="34" charset="0"/>
            </a:endParaRPr>
          </a:p>
          <a:p>
            <a:pPr marL="0" indent="0" algn="l">
              <a:buNone/>
            </a:pPr>
            <a:r>
              <a:rPr lang="en-US" sz="2000" b="1" dirty="0">
                <a:solidFill>
                  <a:srgbClr val="2B4150"/>
                </a:solidFill>
                <a:latin typeface="Source Sans 3" pitchFamily="34" charset="0"/>
              </a:rPr>
              <a:t>Pour </a:t>
            </a:r>
            <a:r>
              <a:rPr lang="en-US" sz="2000" b="1" dirty="0" err="1">
                <a:solidFill>
                  <a:srgbClr val="2B4150"/>
                </a:solidFill>
                <a:latin typeface="Source Sans 3" pitchFamily="34" charset="0"/>
              </a:rPr>
              <a:t>UpTime</a:t>
            </a:r>
            <a:r>
              <a:rPr lang="en-US" sz="2000" b="1" dirty="0">
                <a:solidFill>
                  <a:srgbClr val="2B4150"/>
                </a:solidFill>
                <a:latin typeface="Source Sans 3" pitchFamily="34" charset="0"/>
              </a:rPr>
              <a:t> Kuma :</a:t>
            </a:r>
          </a:p>
          <a:p>
            <a:pPr marL="0" indent="0" algn="l">
              <a:buNone/>
            </a:pPr>
            <a:endParaRPr lang="en-US" sz="2000" dirty="0">
              <a:solidFill>
                <a:srgbClr val="2B4150"/>
              </a:solidFill>
              <a:latin typeface="Source Sans 3" pitchFamily="34" charset="0"/>
            </a:endParaRPr>
          </a:p>
          <a:p>
            <a:pPr marL="0" indent="0" algn="l">
              <a:buNone/>
            </a:pPr>
            <a:r>
              <a:rPr lang="en-US" sz="2000" dirty="0">
                <a:solidFill>
                  <a:srgbClr val="2B4150"/>
                </a:solidFill>
                <a:latin typeface="Source Sans 3" pitchFamily="34" charset="0"/>
              </a:rPr>
              <a:t>Il faut le </a:t>
            </a:r>
            <a:r>
              <a:rPr lang="en-US" sz="2000" dirty="0" err="1">
                <a:solidFill>
                  <a:srgbClr val="2B4150"/>
                </a:solidFill>
                <a:latin typeface="Source Sans 3" pitchFamily="34" charset="0"/>
              </a:rPr>
              <a:t>renseigner</a:t>
            </a:r>
            <a:r>
              <a:rPr lang="en-US" sz="2000" dirty="0">
                <a:solidFill>
                  <a:srgbClr val="2B4150"/>
                </a:solidFill>
                <a:latin typeface="Source Sans 3" pitchFamily="34" charset="0"/>
              </a:rPr>
              <a:t> dans le docker-</a:t>
            </a:r>
            <a:r>
              <a:rPr lang="en-US" sz="2000" dirty="0" err="1">
                <a:solidFill>
                  <a:srgbClr val="2B4150"/>
                </a:solidFill>
                <a:latin typeface="Source Sans 3" pitchFamily="34" charset="0"/>
              </a:rPr>
              <a:t>compose.yml</a:t>
            </a:r>
            <a:r>
              <a:rPr lang="en-US" sz="2000" dirty="0">
                <a:solidFill>
                  <a:srgbClr val="2B4150"/>
                </a:solidFill>
                <a:latin typeface="Source Sans 3" pitchFamily="34" charset="0"/>
              </a:rPr>
              <a:t> et dans le main.tf</a:t>
            </a:r>
          </a:p>
          <a:p>
            <a:pPr marL="0" indent="0" algn="l">
              <a:buNone/>
            </a:pPr>
            <a:r>
              <a:rPr lang="en-US" sz="2000" dirty="0">
                <a:solidFill>
                  <a:srgbClr val="2B4150"/>
                </a:solidFill>
                <a:latin typeface="Source Sans 3" pitchFamily="34" charset="0"/>
              </a:rPr>
              <a:t>Il propose </a:t>
            </a:r>
            <a:r>
              <a:rPr lang="en-US" sz="2000" dirty="0" err="1">
                <a:solidFill>
                  <a:srgbClr val="2B4150"/>
                </a:solidFill>
                <a:latin typeface="Source Sans 3" pitchFamily="34" charset="0"/>
              </a:rPr>
              <a:t>une</a:t>
            </a:r>
            <a:r>
              <a:rPr lang="en-US" sz="2000" dirty="0">
                <a:solidFill>
                  <a:srgbClr val="2B4150"/>
                </a:solidFill>
                <a:latin typeface="Source Sans 3" pitchFamily="34" charset="0"/>
              </a:rPr>
              <a:t> interface et un service très </a:t>
            </a:r>
            <a:r>
              <a:rPr lang="en-US" sz="2000" dirty="0" err="1">
                <a:solidFill>
                  <a:srgbClr val="2B4150"/>
                </a:solidFill>
                <a:latin typeface="Source Sans 3" pitchFamily="34" charset="0"/>
              </a:rPr>
              <a:t>ergonomique</a:t>
            </a:r>
            <a:r>
              <a:rPr lang="en-US" sz="2000" dirty="0">
                <a:solidFill>
                  <a:srgbClr val="2B4150"/>
                </a:solidFill>
                <a:latin typeface="Source Sans 3" pitchFamily="34" charset="0"/>
              </a:rPr>
              <a:t> et très</a:t>
            </a:r>
          </a:p>
          <a:p>
            <a:pPr marL="0" indent="0" algn="l">
              <a:buNone/>
            </a:pPr>
            <a:r>
              <a:rPr lang="en-US" sz="2000" dirty="0" err="1">
                <a:solidFill>
                  <a:srgbClr val="2B4150"/>
                </a:solidFill>
                <a:latin typeface="Source Sans 3" pitchFamily="34" charset="0"/>
              </a:rPr>
              <a:t>qualitatif</a:t>
            </a:r>
            <a:r>
              <a:rPr lang="en-US" sz="2000" dirty="0">
                <a:solidFill>
                  <a:srgbClr val="2B4150"/>
                </a:solidFill>
                <a:latin typeface="Source Sans 3" pitchFamily="34" charset="0"/>
              </a:rPr>
              <a:t>.</a:t>
            </a:r>
            <a:endParaRPr lang="en-US" sz="2000" dirty="0"/>
          </a:p>
        </p:txBody>
      </p:sp>
    </p:spTree>
    <p:extLst>
      <p:ext uri="{BB962C8B-B14F-4D97-AF65-F5344CB8AC3E}">
        <p14:creationId xmlns:p14="http://schemas.microsoft.com/office/powerpoint/2010/main" val="2435818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9503" y="555069"/>
            <a:ext cx="8531304" cy="616744"/>
          </a:xfrm>
          <a:prstGeom prst="rect">
            <a:avLst/>
          </a:prstGeom>
          <a:noFill/>
          <a:ln/>
        </p:spPr>
        <p:txBody>
          <a:bodyPr wrap="none" lIns="0" tIns="0" rIns="0" bIns="0" rtlCol="0" anchor="t"/>
          <a:lstStyle/>
          <a:p>
            <a:pPr marL="0" indent="0" algn="l">
              <a:lnSpc>
                <a:spcPts val="4850"/>
              </a:lnSpc>
              <a:buNone/>
            </a:pPr>
            <a:r>
              <a:rPr lang="en-US" sz="3850" dirty="0">
                <a:solidFill>
                  <a:srgbClr val="124E73"/>
                </a:solidFill>
                <a:latin typeface="MuseoModerno Medium" pitchFamily="34" charset="0"/>
                <a:ea typeface="MuseoModerno Medium" pitchFamily="34" charset="-122"/>
                <a:cs typeface="MuseoModerno Medium" pitchFamily="34" charset="-120"/>
              </a:rPr>
              <a:t>Échanges Professionnels en </a:t>
            </a:r>
            <a:r>
              <a:rPr lang="en-US" sz="3900" dirty="0">
                <a:solidFill>
                  <a:srgbClr val="124E73"/>
                </a:solidFill>
                <a:latin typeface="MuseoModerno Medium" pitchFamily="34" charset="0"/>
                <a:ea typeface="MuseoModerno Medium" pitchFamily="34" charset="-122"/>
                <a:cs typeface="MuseoModerno Medium" pitchFamily="34" charset="-120"/>
              </a:rPr>
              <a:t>Anglais</a:t>
            </a:r>
            <a:endParaRPr lang="en-US" sz="3900" dirty="0"/>
          </a:p>
        </p:txBody>
      </p:sp>
      <p:sp>
        <p:nvSpPr>
          <p:cNvPr id="3" name="Text 1"/>
          <p:cNvSpPr/>
          <p:nvPr/>
        </p:nvSpPr>
        <p:spPr>
          <a:xfrm>
            <a:off x="789503" y="1564362"/>
            <a:ext cx="13051393" cy="629841"/>
          </a:xfrm>
          <a:prstGeom prst="rect">
            <a:avLst/>
          </a:prstGeom>
          <a:noFill/>
          <a:ln/>
        </p:spPr>
        <p:txBody>
          <a:bodyPr wrap="square" lIns="0" tIns="0" rIns="0" bIns="0" rtlCol="0" anchor="t"/>
          <a:lstStyle/>
          <a:p>
            <a:pPr marL="0" indent="0" algn="l">
              <a:lnSpc>
                <a:spcPts val="2450"/>
              </a:lnSpc>
              <a:buNone/>
            </a:pPr>
            <a:r>
              <a:rPr lang="en-US" dirty="0">
                <a:solidFill>
                  <a:srgbClr val="2B4150"/>
                </a:solidFill>
                <a:latin typeface="Source Sans 3" pitchFamily="34" charset="0"/>
                <a:ea typeface="Source Sans 3" pitchFamily="34" charset="-122"/>
                <a:cs typeface="Source Sans 3" pitchFamily="34" charset="-120"/>
              </a:rPr>
              <a:t>Au-delà de la technique pure, ce dossier aborde également la dimension professionnelle internationale, nourrie par une expérience militaire significative au sein de missions OTAN.</a:t>
            </a:r>
            <a:endParaRPr lang="en-US" dirty="0"/>
          </a:p>
        </p:txBody>
      </p:sp>
      <p:sp>
        <p:nvSpPr>
          <p:cNvPr id="4" name="Text 2"/>
          <p:cNvSpPr/>
          <p:nvPr/>
        </p:nvSpPr>
        <p:spPr>
          <a:xfrm>
            <a:off x="789503" y="2611160"/>
            <a:ext cx="6284952" cy="616744"/>
          </a:xfrm>
          <a:prstGeom prst="rect">
            <a:avLst/>
          </a:prstGeom>
          <a:noFill/>
          <a:ln/>
        </p:spPr>
        <p:txBody>
          <a:bodyPr wrap="square" lIns="0" tIns="0" rIns="0" bIns="0" rtlCol="0" anchor="t"/>
          <a:lstStyle/>
          <a:p>
            <a:pPr marL="0" indent="0" algn="l">
              <a:lnSpc>
                <a:spcPts val="2400"/>
              </a:lnSpc>
              <a:buNone/>
            </a:pPr>
            <a:r>
              <a:rPr lang="en-US" sz="1900" dirty="0">
                <a:solidFill>
                  <a:srgbClr val="124E73"/>
                </a:solidFill>
                <a:latin typeface="MuseoModerno Medium" pitchFamily="34" charset="0"/>
                <a:ea typeface="MuseoModerno Medium" pitchFamily="34" charset="-122"/>
                <a:cs typeface="MuseoModerno Medium" pitchFamily="34" charset="-120"/>
              </a:rPr>
              <a:t>Common Tenacity — Administrateur système interallié</a:t>
            </a:r>
            <a:endParaRPr lang="en-US" sz="1900" dirty="0"/>
          </a:p>
        </p:txBody>
      </p:sp>
      <p:sp>
        <p:nvSpPr>
          <p:cNvPr id="5" name="Text 3"/>
          <p:cNvSpPr/>
          <p:nvPr/>
        </p:nvSpPr>
        <p:spPr>
          <a:xfrm>
            <a:off x="789503" y="3424118"/>
            <a:ext cx="6284952" cy="1889522"/>
          </a:xfrm>
          <a:prstGeom prst="rect">
            <a:avLst/>
          </a:prstGeom>
          <a:noFill/>
          <a:ln/>
        </p:spPr>
        <p:txBody>
          <a:bodyPr wrap="square" lIns="0" tIns="0" rIns="0" bIns="0" rtlCol="0" anchor="t"/>
          <a:lstStyle/>
          <a:p>
            <a:pPr marL="0" indent="0" algn="l">
              <a:lnSpc>
                <a:spcPts val="2450"/>
              </a:lnSpc>
              <a:buNone/>
            </a:pPr>
            <a:r>
              <a:rPr lang="en-US" sz="1550" dirty="0">
                <a:solidFill>
                  <a:srgbClr val="2B4150"/>
                </a:solidFill>
                <a:latin typeface="Source Sans 3" pitchFamily="34" charset="0"/>
                <a:ea typeface="Source Sans 3" pitchFamily="34" charset="-122"/>
                <a:cs typeface="Source Sans 3" pitchFamily="34" charset="-120"/>
              </a:rPr>
              <a:t>Durant cette mission OTAN, </a:t>
            </a:r>
            <a:r>
              <a:rPr lang="en-US" sz="1550" dirty="0" err="1">
                <a:solidFill>
                  <a:srgbClr val="2B4150"/>
                </a:solidFill>
                <a:latin typeface="Source Sans 3" pitchFamily="34" charset="0"/>
                <a:ea typeface="Source Sans 3" pitchFamily="34" charset="-122"/>
                <a:cs typeface="Source Sans 3" pitchFamily="34" charset="-120"/>
              </a:rPr>
              <a:t>j’ai</a:t>
            </a:r>
            <a:r>
              <a:rPr lang="en-US" sz="1550" dirty="0">
                <a:solidFill>
                  <a:srgbClr val="2B4150"/>
                </a:solidFill>
                <a:latin typeface="Source Sans 3" pitchFamily="34" charset="0"/>
                <a:ea typeface="Source Sans 3" pitchFamily="34" charset="-122"/>
                <a:cs typeface="Source Sans 3" pitchFamily="34" charset="-120"/>
              </a:rPr>
              <a:t> exercé les fonctions d'</a:t>
            </a:r>
            <a:r>
              <a:rPr lang="en-US" sz="1550" b="1" dirty="0">
                <a:solidFill>
                  <a:srgbClr val="2B4150"/>
                </a:solidFill>
                <a:latin typeface="Source Sans 3" pitchFamily="34" charset="0"/>
                <a:ea typeface="Source Sans 3" pitchFamily="34" charset="-122"/>
                <a:cs typeface="Source Sans 3" pitchFamily="34" charset="-120"/>
              </a:rPr>
              <a:t>administrateur système (SICF)</a:t>
            </a:r>
            <a:r>
              <a:rPr lang="en-US" sz="1550" dirty="0">
                <a:solidFill>
                  <a:srgbClr val="2B4150"/>
                </a:solidFill>
                <a:latin typeface="Source Sans 3" pitchFamily="34" charset="0"/>
                <a:ea typeface="Source Sans 3" pitchFamily="34" charset="-122"/>
                <a:cs typeface="Source Sans 3" pitchFamily="34" charset="-120"/>
              </a:rPr>
              <a:t> au profit de l'interallié. L'équipe technique était composée de 3 personnes : un administrateur système, un administrateur réseau, avec en support un groupe helpdesk d'une vingtaine de techniciens allemands. La langue de travail et de coordination était exclusivement </a:t>
            </a:r>
            <a:r>
              <a:rPr lang="en-US" sz="1550" b="1" dirty="0">
                <a:solidFill>
                  <a:srgbClr val="2B4150"/>
                </a:solidFill>
                <a:latin typeface="Source Sans 3" pitchFamily="34" charset="0"/>
                <a:ea typeface="Source Sans 3" pitchFamily="34" charset="-122"/>
                <a:cs typeface="Source Sans 3" pitchFamily="34" charset="-120"/>
              </a:rPr>
              <a:t>l'anglais technique</a:t>
            </a:r>
            <a:r>
              <a:rPr lang="en-US" sz="1550" dirty="0">
                <a:solidFill>
                  <a:srgbClr val="2B4150"/>
                </a:solidFill>
                <a:latin typeface="Source Sans 3" pitchFamily="34" charset="0"/>
                <a:ea typeface="Source Sans 3" pitchFamily="34" charset="-122"/>
                <a:cs typeface="Source Sans 3" pitchFamily="34" charset="-120"/>
              </a:rPr>
              <a:t> — Des comptes rendus d'incidents aux procédures d'escalade.</a:t>
            </a:r>
            <a:endParaRPr lang="en-US" sz="1550" dirty="0"/>
          </a:p>
        </p:txBody>
      </p:sp>
      <p:sp>
        <p:nvSpPr>
          <p:cNvPr id="6" name="Text 4"/>
          <p:cNvSpPr/>
          <p:nvPr/>
        </p:nvSpPr>
        <p:spPr>
          <a:xfrm>
            <a:off x="7563564" y="2611160"/>
            <a:ext cx="5070157" cy="308372"/>
          </a:xfrm>
          <a:prstGeom prst="rect">
            <a:avLst/>
          </a:prstGeom>
          <a:noFill/>
          <a:ln/>
        </p:spPr>
        <p:txBody>
          <a:bodyPr wrap="none" lIns="0" tIns="0" rIns="0" bIns="0" rtlCol="0" anchor="t"/>
          <a:lstStyle/>
          <a:p>
            <a:pPr marL="0" indent="0" algn="l">
              <a:lnSpc>
                <a:spcPts val="2400"/>
              </a:lnSpc>
              <a:buNone/>
            </a:pPr>
            <a:r>
              <a:rPr lang="en-US" sz="1900" dirty="0">
                <a:solidFill>
                  <a:srgbClr val="124E73"/>
                </a:solidFill>
                <a:latin typeface="MuseoModerno Medium" pitchFamily="34" charset="0"/>
                <a:ea typeface="MuseoModerno Medium" pitchFamily="34" charset="-122"/>
                <a:cs typeface="MuseoModerno Medium" pitchFamily="34" charset="-120"/>
              </a:rPr>
              <a:t>Cold Response &amp; Brilliant Jump — Norvège</a:t>
            </a:r>
            <a:endParaRPr lang="en-US" sz="1900" dirty="0"/>
          </a:p>
        </p:txBody>
      </p:sp>
      <p:sp>
        <p:nvSpPr>
          <p:cNvPr id="7" name="Text 5"/>
          <p:cNvSpPr/>
          <p:nvPr/>
        </p:nvSpPr>
        <p:spPr>
          <a:xfrm>
            <a:off x="7563564" y="3115747"/>
            <a:ext cx="6284952" cy="1889522"/>
          </a:xfrm>
          <a:prstGeom prst="rect">
            <a:avLst/>
          </a:prstGeom>
          <a:noFill/>
          <a:ln/>
        </p:spPr>
        <p:txBody>
          <a:bodyPr wrap="square" lIns="0" tIns="0" rIns="0" bIns="0" rtlCol="0" anchor="t"/>
          <a:lstStyle/>
          <a:p>
            <a:pPr marL="0" indent="0" algn="l">
              <a:lnSpc>
                <a:spcPts val="2450"/>
              </a:lnSpc>
              <a:buNone/>
            </a:pPr>
            <a:r>
              <a:rPr lang="en-US" sz="1550" dirty="0">
                <a:solidFill>
                  <a:srgbClr val="2B4150"/>
                </a:solidFill>
                <a:latin typeface="Source Sans 3" pitchFamily="34" charset="0"/>
                <a:ea typeface="Source Sans 3" pitchFamily="34" charset="-122"/>
                <a:cs typeface="Source Sans 3" pitchFamily="34" charset="-120"/>
              </a:rPr>
              <a:t>Deux exercices supplémentaires en Norvège ont consolidé cette pratique de l'anglais professionnel dans un contexte hautement technique. Toutes les interactions — briefings, documentation, support technique — se déroulaient en anglais. La proximité des compétences entre techniciens de différentes nationalités créait un terrain d'échange naturellement professionnel et enrichissant.</a:t>
            </a:r>
            <a:endParaRPr lang="en-US" sz="1550" dirty="0"/>
          </a:p>
        </p:txBody>
      </p:sp>
      <p:sp>
        <p:nvSpPr>
          <p:cNvPr id="8" name="Text 6"/>
          <p:cNvSpPr/>
          <p:nvPr/>
        </p:nvSpPr>
        <p:spPr>
          <a:xfrm>
            <a:off x="7563564" y="5181838"/>
            <a:ext cx="6284952" cy="944761"/>
          </a:xfrm>
          <a:prstGeom prst="rect">
            <a:avLst/>
          </a:prstGeom>
          <a:noFill/>
          <a:ln/>
        </p:spPr>
        <p:txBody>
          <a:bodyPr wrap="square" lIns="0" tIns="0" rIns="0" bIns="0" rtlCol="0" anchor="t"/>
          <a:lstStyle/>
          <a:p>
            <a:pPr marL="0" indent="0" algn="l">
              <a:lnSpc>
                <a:spcPts val="2450"/>
              </a:lnSpc>
              <a:buNone/>
            </a:pPr>
            <a:r>
              <a:rPr lang="en-US" sz="1550" dirty="0">
                <a:solidFill>
                  <a:srgbClr val="2B4150"/>
                </a:solidFill>
                <a:latin typeface="Source Sans 3" pitchFamily="34" charset="0"/>
                <a:ea typeface="Source Sans 3" pitchFamily="34" charset="-122"/>
                <a:cs typeface="Source Sans 3" pitchFamily="34" charset="-120"/>
              </a:rPr>
              <a:t>Ces expériences démontrent une capacité établie à </a:t>
            </a:r>
            <a:r>
              <a:rPr lang="en-US" sz="1550" b="1" dirty="0">
                <a:solidFill>
                  <a:srgbClr val="2B4150"/>
                </a:solidFill>
                <a:latin typeface="Source Sans 3" pitchFamily="34" charset="0"/>
                <a:ea typeface="Source Sans 3" pitchFamily="34" charset="-122"/>
                <a:cs typeface="Source Sans 3" pitchFamily="34" charset="-120"/>
              </a:rPr>
              <a:t>communiquer efficacement en anglais sur des réseaux professionnels</a:t>
            </a:r>
            <a:r>
              <a:rPr lang="en-US" sz="1550" dirty="0">
                <a:solidFill>
                  <a:srgbClr val="2B4150"/>
                </a:solidFill>
                <a:latin typeface="Source Sans 3" pitchFamily="34" charset="0"/>
                <a:ea typeface="Source Sans 3" pitchFamily="34" charset="-122"/>
                <a:cs typeface="Source Sans 3" pitchFamily="34" charset="-120"/>
              </a:rPr>
              <a:t>, dans des environnements contraignants et à fort enjeu opérationnel.</a:t>
            </a:r>
            <a:endParaRPr lang="en-US" sz="1550" dirty="0"/>
          </a:p>
        </p:txBody>
      </p:sp>
      <p:sp>
        <p:nvSpPr>
          <p:cNvPr id="9" name="Shape 7"/>
          <p:cNvSpPr/>
          <p:nvPr/>
        </p:nvSpPr>
        <p:spPr>
          <a:xfrm>
            <a:off x="789503" y="6523911"/>
            <a:ext cx="13051393" cy="1150501"/>
          </a:xfrm>
          <a:prstGeom prst="roundRect">
            <a:avLst>
              <a:gd name="adj" fmla="val 2573"/>
            </a:avLst>
          </a:prstGeom>
          <a:solidFill>
            <a:srgbClr val="C9DDE9"/>
          </a:solidFill>
          <a:ln/>
        </p:spPr>
      </p:sp>
      <p:pic>
        <p:nvPicPr>
          <p:cNvPr id="10" name="Image 0" descr="preencoded.png"/>
          <p:cNvPicPr>
            <a:picLocks noChangeAspect="1"/>
          </p:cNvPicPr>
          <p:nvPr/>
        </p:nvPicPr>
        <p:blipFill>
          <a:blip r:embed="rId3"/>
          <a:stretch>
            <a:fillRect/>
          </a:stretch>
        </p:blipFill>
        <p:spPr>
          <a:xfrm>
            <a:off x="986790" y="6818828"/>
            <a:ext cx="246698" cy="197287"/>
          </a:xfrm>
          <a:prstGeom prst="rect">
            <a:avLst/>
          </a:prstGeom>
        </p:spPr>
      </p:pic>
      <p:sp>
        <p:nvSpPr>
          <p:cNvPr id="11" name="Text 8"/>
          <p:cNvSpPr/>
          <p:nvPr/>
        </p:nvSpPr>
        <p:spPr>
          <a:xfrm>
            <a:off x="1430774" y="6769418"/>
            <a:ext cx="12212836" cy="629841"/>
          </a:xfrm>
          <a:prstGeom prst="rect">
            <a:avLst/>
          </a:prstGeom>
          <a:noFill/>
          <a:ln/>
        </p:spPr>
        <p:txBody>
          <a:bodyPr wrap="square" lIns="0" tIns="0" rIns="0" bIns="0" rtlCol="0" anchor="t"/>
          <a:lstStyle/>
          <a:p>
            <a:pPr marL="0" indent="0" algn="l">
              <a:lnSpc>
                <a:spcPts val="2450"/>
              </a:lnSpc>
              <a:buNone/>
            </a:pPr>
            <a:r>
              <a:rPr lang="en-US" sz="1550" dirty="0">
                <a:solidFill>
                  <a:srgbClr val="000000"/>
                </a:solidFill>
                <a:latin typeface="Source Sans 3" pitchFamily="34" charset="0"/>
                <a:ea typeface="Source Sans 3" pitchFamily="34" charset="-122"/>
                <a:cs typeface="Source Sans 3" pitchFamily="34" charset="-120"/>
              </a:rPr>
              <a:t>Ces missions illustrent une dimension souvent sous-estimée du profil DevOps : la capacité à travailler en équipe multiculturelle, à documenter et à communiquer dans un anglais technique précis — compétence de plus en plus requise dans les environnements cloud et open-source.</a:t>
            </a:r>
            <a:endParaRPr lang="en-US" sz="1550" dirty="0"/>
          </a:p>
        </p:txBody>
      </p:sp>
      <p:pic>
        <p:nvPicPr>
          <p:cNvPr id="13" name="Image 12">
            <a:extLst>
              <a:ext uri="{FF2B5EF4-FFF2-40B4-BE49-F238E27FC236}">
                <a16:creationId xmlns:a16="http://schemas.microsoft.com/office/drawing/2014/main" id="{81F1BC3E-F692-0237-B563-89205292B2AA}"/>
              </a:ext>
            </a:extLst>
          </p:cNvPr>
          <p:cNvPicPr>
            <a:picLocks noChangeAspect="1"/>
          </p:cNvPicPr>
          <p:nvPr/>
        </p:nvPicPr>
        <p:blipFill>
          <a:blip r:embed="rId4"/>
          <a:stretch>
            <a:fillRect/>
          </a:stretch>
        </p:blipFill>
        <p:spPr>
          <a:xfrm>
            <a:off x="10633192" y="7674412"/>
            <a:ext cx="4001058" cy="5551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00207" y="535127"/>
            <a:ext cx="5533549" cy="514945"/>
          </a:xfrm>
          <a:prstGeom prst="rect">
            <a:avLst/>
          </a:prstGeom>
          <a:noFill/>
          <a:ln/>
        </p:spPr>
        <p:txBody>
          <a:bodyPr wrap="none" lIns="0" tIns="0" rIns="0" bIns="0" rtlCol="0" anchor="t"/>
          <a:lstStyle/>
          <a:p>
            <a:pPr marL="0" indent="0" algn="l">
              <a:lnSpc>
                <a:spcPts val="4050"/>
              </a:lnSpc>
              <a:buNone/>
            </a:pPr>
            <a:r>
              <a:rPr lang="en-US" sz="3900" dirty="0">
                <a:solidFill>
                  <a:srgbClr val="124E73"/>
                </a:solidFill>
                <a:latin typeface="MuseoModerno Medium" pitchFamily="34" charset="0"/>
                <a:ea typeface="MuseoModerno Medium" pitchFamily="34" charset="-122"/>
                <a:cs typeface="MuseoModerno Medium" pitchFamily="34" charset="-120"/>
              </a:rPr>
              <a:t>Conclusion &amp; Bilan du Projet</a:t>
            </a:r>
            <a:endParaRPr lang="en-US" sz="3900" dirty="0"/>
          </a:p>
        </p:txBody>
      </p:sp>
      <p:sp>
        <p:nvSpPr>
          <p:cNvPr id="3" name="Text 1"/>
          <p:cNvSpPr/>
          <p:nvPr/>
        </p:nvSpPr>
        <p:spPr>
          <a:xfrm>
            <a:off x="700207" y="1190379"/>
            <a:ext cx="12992457" cy="482441"/>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Un projet complet, exigeant, et profondément formateur. L'application Pasta — aussi simple soit-elle — a servi de terrain d'expérimentation pour l'ensemble de la chaîne DevOps, de la ligne de code au déploiement cloud supervisé.</a:t>
            </a:r>
            <a:endParaRPr lang="en-US" sz="1600" dirty="0"/>
          </a:p>
        </p:txBody>
      </p:sp>
      <p:sp>
        <p:nvSpPr>
          <p:cNvPr id="4" name="Shape 2"/>
          <p:cNvSpPr/>
          <p:nvPr/>
        </p:nvSpPr>
        <p:spPr>
          <a:xfrm>
            <a:off x="808672" y="1809503"/>
            <a:ext cx="6427827" cy="1158835"/>
          </a:xfrm>
          <a:prstGeom prst="roundRect">
            <a:avLst>
              <a:gd name="adj" fmla="val 2133"/>
            </a:avLst>
          </a:prstGeom>
          <a:solidFill>
            <a:srgbClr val="F3EEE3"/>
          </a:solidFill>
          <a:ln/>
        </p:spPr>
        <p:txBody>
          <a:bodyPr/>
          <a:lstStyle/>
          <a:p>
            <a:endParaRPr lang="fr-FR" dirty="0"/>
          </a:p>
        </p:txBody>
      </p:sp>
      <p:sp>
        <p:nvSpPr>
          <p:cNvPr id="5" name="Text 3"/>
          <p:cNvSpPr/>
          <p:nvPr/>
        </p:nvSpPr>
        <p:spPr>
          <a:xfrm>
            <a:off x="937855" y="1955959"/>
            <a:ext cx="2529126" cy="265033"/>
          </a:xfrm>
          <a:prstGeom prst="rect">
            <a:avLst/>
          </a:prstGeom>
          <a:noFill/>
          <a:ln/>
        </p:spPr>
        <p:txBody>
          <a:bodyPr wrap="none" lIns="0" tIns="0" rIns="0" bIns="0" rtlCol="0" anchor="t"/>
          <a:lstStyle/>
          <a:p>
            <a:pPr marL="0" indent="0" algn="l">
              <a:lnSpc>
                <a:spcPts val="2000"/>
              </a:lnSpc>
              <a:buNone/>
            </a:pPr>
            <a:r>
              <a:rPr lang="en-US" dirty="0">
                <a:solidFill>
                  <a:srgbClr val="000000"/>
                </a:solidFill>
                <a:latin typeface="MuseoModerno Medium" pitchFamily="34" charset="0"/>
                <a:ea typeface="MuseoModerno Medium" pitchFamily="34" charset="-122"/>
                <a:cs typeface="MuseoModerno Medium" pitchFamily="34" charset="-120"/>
              </a:rPr>
              <a:t>🏗️</a:t>
            </a:r>
            <a:r>
              <a:rPr lang="en-US" dirty="0">
                <a:solidFill>
                  <a:srgbClr val="2B4150"/>
                </a:solidFill>
                <a:latin typeface="MuseoModerno Medium" pitchFamily="34" charset="0"/>
                <a:ea typeface="MuseoModerno Medium" pitchFamily="34" charset="-122"/>
                <a:cs typeface="MuseoModerno Medium" pitchFamily="34" charset="-120"/>
              </a:rPr>
              <a:t> Infrastructure as Code</a:t>
            </a:r>
            <a:endParaRPr lang="en-US" dirty="0"/>
          </a:p>
        </p:txBody>
      </p:sp>
      <p:sp>
        <p:nvSpPr>
          <p:cNvPr id="6" name="Text 4"/>
          <p:cNvSpPr/>
          <p:nvPr/>
        </p:nvSpPr>
        <p:spPr>
          <a:xfrm>
            <a:off x="937855" y="2220992"/>
            <a:ext cx="6098500" cy="482441"/>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Terraform (GCP) provisionne l'infrastructure. Ansible configure la VM. Le tout reproductible en quelques commandes.</a:t>
            </a:r>
            <a:endParaRPr lang="en-US" sz="1600" dirty="0"/>
          </a:p>
        </p:txBody>
      </p:sp>
      <p:sp>
        <p:nvSpPr>
          <p:cNvPr id="7" name="Shape 5"/>
          <p:cNvSpPr/>
          <p:nvPr/>
        </p:nvSpPr>
        <p:spPr>
          <a:xfrm>
            <a:off x="7390924" y="1826189"/>
            <a:ext cx="6427946" cy="1158835"/>
          </a:xfrm>
          <a:prstGeom prst="roundRect">
            <a:avLst>
              <a:gd name="adj" fmla="val 2133"/>
            </a:avLst>
          </a:prstGeom>
          <a:solidFill>
            <a:srgbClr val="F3EEE3"/>
          </a:solidFill>
          <a:ln/>
        </p:spPr>
      </p:sp>
      <p:sp>
        <p:nvSpPr>
          <p:cNvPr id="8" name="Text 6"/>
          <p:cNvSpPr/>
          <p:nvPr/>
        </p:nvSpPr>
        <p:spPr>
          <a:xfrm>
            <a:off x="7523678" y="1955958"/>
            <a:ext cx="2059424" cy="265033"/>
          </a:xfrm>
          <a:prstGeom prst="rect">
            <a:avLst/>
          </a:prstGeom>
          <a:noFill/>
          <a:ln/>
        </p:spPr>
        <p:txBody>
          <a:bodyPr wrap="none" lIns="0" tIns="0" rIns="0" bIns="0" rtlCol="0" anchor="t"/>
          <a:lstStyle/>
          <a:p>
            <a:pPr marL="0" indent="0" algn="l">
              <a:lnSpc>
                <a:spcPts val="2000"/>
              </a:lnSpc>
              <a:buNone/>
            </a:pPr>
            <a:r>
              <a:rPr lang="en-US" dirty="0">
                <a:solidFill>
                  <a:srgbClr val="000000"/>
                </a:solidFill>
                <a:latin typeface="MuseoModerno Medium" pitchFamily="34" charset="0"/>
                <a:ea typeface="MuseoModerno Medium" pitchFamily="34" charset="-122"/>
                <a:cs typeface="MuseoModerno Medium" pitchFamily="34" charset="-120"/>
              </a:rPr>
              <a:t>🐳</a:t>
            </a:r>
            <a:r>
              <a:rPr lang="en-US" dirty="0">
                <a:solidFill>
                  <a:srgbClr val="2B4150"/>
                </a:solidFill>
                <a:latin typeface="MuseoModerno Medium" pitchFamily="34" charset="0"/>
                <a:ea typeface="MuseoModerno Medium" pitchFamily="34" charset="-122"/>
                <a:cs typeface="MuseoModerno Medium" pitchFamily="34" charset="-120"/>
              </a:rPr>
              <a:t> Conteneurisation</a:t>
            </a:r>
            <a:endParaRPr lang="en-US" dirty="0"/>
          </a:p>
        </p:txBody>
      </p:sp>
      <p:sp>
        <p:nvSpPr>
          <p:cNvPr id="9" name="Text 7"/>
          <p:cNvSpPr/>
          <p:nvPr/>
        </p:nvSpPr>
        <p:spPr>
          <a:xfrm>
            <a:off x="7523678" y="2262174"/>
            <a:ext cx="6098619" cy="482441"/>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Docker isole et rend portable l'application. Volumes persistants, </a:t>
            </a:r>
          </a:p>
          <a:p>
            <a:pPr marL="0" indent="0" algn="l">
              <a:lnSpc>
                <a:spcPts val="1850"/>
              </a:lnSpc>
              <a:buNone/>
            </a:pPr>
            <a:r>
              <a:rPr lang="en-US" sz="1600" dirty="0" err="1">
                <a:solidFill>
                  <a:srgbClr val="2B4150"/>
                </a:solidFill>
                <a:latin typeface="Source Sans 3" pitchFamily="34" charset="0"/>
                <a:ea typeface="Source Sans 3" pitchFamily="34" charset="-122"/>
                <a:cs typeface="Source Sans 3" pitchFamily="34" charset="-120"/>
              </a:rPr>
              <a:t>DockerFile</a:t>
            </a:r>
            <a:r>
              <a:rPr lang="en-US" sz="1600" dirty="0">
                <a:solidFill>
                  <a:srgbClr val="2B4150"/>
                </a:solidFill>
                <a:latin typeface="Source Sans 3" pitchFamily="34" charset="0"/>
                <a:ea typeface="Source Sans 3" pitchFamily="34" charset="-122"/>
                <a:cs typeface="Source Sans 3" pitchFamily="34" charset="-120"/>
              </a:rPr>
              <a:t> et  </a:t>
            </a:r>
            <a:r>
              <a:rPr lang="en-US" sz="1600" dirty="0" err="1">
                <a:solidFill>
                  <a:srgbClr val="2B4150"/>
                </a:solidFill>
                <a:latin typeface="Source Sans 3" pitchFamily="34" charset="0"/>
                <a:ea typeface="Source Sans 3" pitchFamily="34" charset="-122"/>
                <a:cs typeface="Source Sans 3" pitchFamily="34" charset="-120"/>
              </a:rPr>
              <a:t>DockerCompose</a:t>
            </a:r>
            <a:r>
              <a:rPr lang="en-US" sz="1600" dirty="0">
                <a:solidFill>
                  <a:srgbClr val="2B4150"/>
                </a:solidFill>
                <a:latin typeface="Source Sans 3" pitchFamily="34" charset="0"/>
                <a:ea typeface="Source Sans 3" pitchFamily="34" charset="-122"/>
                <a:cs typeface="Source Sans 3" pitchFamily="34" charset="-120"/>
              </a:rPr>
              <a:t> constituent </a:t>
            </a:r>
            <a:r>
              <a:rPr lang="en-US" sz="1600" dirty="0" err="1">
                <a:solidFill>
                  <a:srgbClr val="2B4150"/>
                </a:solidFill>
                <a:latin typeface="Source Sans 3" pitchFamily="34" charset="0"/>
                <a:ea typeface="Source Sans 3" pitchFamily="34" charset="-122"/>
                <a:cs typeface="Source Sans 3" pitchFamily="34" charset="-120"/>
              </a:rPr>
              <a:t>une</a:t>
            </a:r>
            <a:r>
              <a:rPr lang="en-US" sz="1600" dirty="0">
                <a:solidFill>
                  <a:srgbClr val="2B4150"/>
                </a:solidFill>
                <a:latin typeface="Source Sans 3" pitchFamily="34" charset="0"/>
                <a:ea typeface="Source Sans 3" pitchFamily="34" charset="-122"/>
                <a:cs typeface="Source Sans 3" pitchFamily="34" charset="-120"/>
              </a:rPr>
              <a:t> base solide.</a:t>
            </a:r>
            <a:endParaRPr lang="en-US" sz="1600" dirty="0"/>
          </a:p>
        </p:txBody>
      </p:sp>
      <p:sp>
        <p:nvSpPr>
          <p:cNvPr id="10" name="Shape 8"/>
          <p:cNvSpPr/>
          <p:nvPr/>
        </p:nvSpPr>
        <p:spPr>
          <a:xfrm>
            <a:off x="850858" y="3149688"/>
            <a:ext cx="6427827" cy="1158835"/>
          </a:xfrm>
          <a:prstGeom prst="roundRect">
            <a:avLst>
              <a:gd name="adj" fmla="val 2133"/>
            </a:avLst>
          </a:prstGeom>
          <a:solidFill>
            <a:srgbClr val="F3EEE3"/>
          </a:solidFill>
          <a:ln/>
        </p:spPr>
      </p:sp>
      <p:sp>
        <p:nvSpPr>
          <p:cNvPr id="11" name="Text 9"/>
          <p:cNvSpPr/>
          <p:nvPr/>
        </p:nvSpPr>
        <p:spPr>
          <a:xfrm>
            <a:off x="1015521" y="3314351"/>
            <a:ext cx="2059424" cy="265033"/>
          </a:xfrm>
          <a:prstGeom prst="rect">
            <a:avLst/>
          </a:prstGeom>
          <a:noFill/>
          <a:ln/>
        </p:spPr>
        <p:txBody>
          <a:bodyPr wrap="none" lIns="0" tIns="0" rIns="0" bIns="0" rtlCol="0" anchor="t"/>
          <a:lstStyle/>
          <a:p>
            <a:pPr marL="0" indent="0" algn="l">
              <a:lnSpc>
                <a:spcPts val="2000"/>
              </a:lnSpc>
              <a:buNone/>
            </a:pPr>
            <a:r>
              <a:rPr lang="en-US" dirty="0">
                <a:solidFill>
                  <a:srgbClr val="000000"/>
                </a:solidFill>
                <a:latin typeface="MuseoModerno Medium" pitchFamily="34" charset="0"/>
                <a:ea typeface="MuseoModerno Medium" pitchFamily="34" charset="-122"/>
                <a:cs typeface="MuseoModerno Medium" pitchFamily="34" charset="-120"/>
              </a:rPr>
              <a:t>🔄</a:t>
            </a:r>
            <a:r>
              <a:rPr lang="en-US" dirty="0">
                <a:solidFill>
                  <a:srgbClr val="2B4150"/>
                </a:solidFill>
                <a:latin typeface="MuseoModerno Medium" pitchFamily="34" charset="0"/>
                <a:ea typeface="MuseoModerno Medium" pitchFamily="34" charset="-122"/>
                <a:cs typeface="MuseoModerno Medium" pitchFamily="34" charset="-120"/>
              </a:rPr>
              <a:t> CI/CD</a:t>
            </a:r>
            <a:endParaRPr lang="en-US" dirty="0"/>
          </a:p>
        </p:txBody>
      </p:sp>
      <p:sp>
        <p:nvSpPr>
          <p:cNvPr id="12" name="Text 10"/>
          <p:cNvSpPr/>
          <p:nvPr/>
        </p:nvSpPr>
        <p:spPr>
          <a:xfrm>
            <a:off x="973335" y="3661418"/>
            <a:ext cx="6098500" cy="482441"/>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GitLab CI avec Runner auto-hébergé. Railway pour le déploiement PaaS simplifié. Pipeline de validation avant mise en production.</a:t>
            </a:r>
            <a:endParaRPr lang="en-US" sz="1600" dirty="0"/>
          </a:p>
        </p:txBody>
      </p:sp>
      <p:sp>
        <p:nvSpPr>
          <p:cNvPr id="13" name="Shape 11"/>
          <p:cNvSpPr/>
          <p:nvPr/>
        </p:nvSpPr>
        <p:spPr>
          <a:xfrm>
            <a:off x="7415369" y="3149688"/>
            <a:ext cx="6427946" cy="1158835"/>
          </a:xfrm>
          <a:prstGeom prst="roundRect">
            <a:avLst>
              <a:gd name="adj" fmla="val 2133"/>
            </a:avLst>
          </a:prstGeom>
          <a:solidFill>
            <a:srgbClr val="F3EEE3"/>
          </a:solidFill>
          <a:ln/>
        </p:spPr>
      </p:sp>
      <p:sp>
        <p:nvSpPr>
          <p:cNvPr id="14" name="Text 12"/>
          <p:cNvSpPr/>
          <p:nvPr/>
        </p:nvSpPr>
        <p:spPr>
          <a:xfrm>
            <a:off x="7580032" y="3314351"/>
            <a:ext cx="2059424" cy="265033"/>
          </a:xfrm>
          <a:prstGeom prst="rect">
            <a:avLst/>
          </a:prstGeom>
          <a:noFill/>
          <a:ln/>
        </p:spPr>
        <p:txBody>
          <a:bodyPr wrap="none" lIns="0" tIns="0" rIns="0" bIns="0" rtlCol="0" anchor="t"/>
          <a:lstStyle/>
          <a:p>
            <a:pPr marL="0" indent="0" algn="l">
              <a:lnSpc>
                <a:spcPts val="2000"/>
              </a:lnSpc>
              <a:buNone/>
            </a:pPr>
            <a:r>
              <a:rPr lang="en-US" dirty="0">
                <a:solidFill>
                  <a:srgbClr val="000000"/>
                </a:solidFill>
                <a:latin typeface="MuseoModerno Medium" pitchFamily="34" charset="0"/>
                <a:ea typeface="MuseoModerno Medium" pitchFamily="34" charset="-122"/>
                <a:cs typeface="MuseoModerno Medium" pitchFamily="34" charset="-120"/>
              </a:rPr>
              <a:t>📊</a:t>
            </a:r>
            <a:r>
              <a:rPr lang="en-US" dirty="0">
                <a:solidFill>
                  <a:srgbClr val="2B4150"/>
                </a:solidFill>
                <a:latin typeface="MuseoModerno Medium" pitchFamily="34" charset="0"/>
                <a:ea typeface="MuseoModerno Medium" pitchFamily="34" charset="-122"/>
                <a:cs typeface="MuseoModerno Medium" pitchFamily="34" charset="-120"/>
              </a:rPr>
              <a:t> Supervision</a:t>
            </a:r>
            <a:endParaRPr lang="en-US" dirty="0"/>
          </a:p>
        </p:txBody>
      </p:sp>
      <p:sp>
        <p:nvSpPr>
          <p:cNvPr id="15" name="Text 13"/>
          <p:cNvSpPr/>
          <p:nvPr/>
        </p:nvSpPr>
        <p:spPr>
          <a:xfrm>
            <a:off x="7523678" y="3661418"/>
            <a:ext cx="6319637" cy="482441"/>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Uptime Kuma pour l'applicatif, agents GCP pour l'infrastructure. </a:t>
            </a:r>
          </a:p>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Des </a:t>
            </a:r>
            <a:r>
              <a:rPr lang="en-US" sz="1600" dirty="0" err="1">
                <a:solidFill>
                  <a:srgbClr val="2B4150"/>
                </a:solidFill>
                <a:latin typeface="Source Sans 3" pitchFamily="34" charset="0"/>
                <a:ea typeface="Source Sans 3" pitchFamily="34" charset="-122"/>
                <a:cs typeface="Source Sans 3" pitchFamily="34" charset="-120"/>
              </a:rPr>
              <a:t>Alertes</a:t>
            </a:r>
            <a:r>
              <a:rPr lang="en-US" sz="1600" dirty="0">
                <a:solidFill>
                  <a:srgbClr val="2B4150"/>
                </a:solidFill>
                <a:latin typeface="Source Sans 3" pitchFamily="34" charset="0"/>
                <a:ea typeface="Source Sans 3" pitchFamily="34" charset="-122"/>
                <a:cs typeface="Source Sans 3" pitchFamily="34" charset="-120"/>
              </a:rPr>
              <a:t> mail, Une administration mobile, Des </a:t>
            </a:r>
            <a:r>
              <a:rPr lang="en-US" sz="1600" dirty="0" err="1">
                <a:solidFill>
                  <a:srgbClr val="2B4150"/>
                </a:solidFill>
                <a:latin typeface="Source Sans 3" pitchFamily="34" charset="0"/>
                <a:ea typeface="Source Sans 3" pitchFamily="34" charset="-122"/>
                <a:cs typeface="Source Sans 3" pitchFamily="34" charset="-120"/>
              </a:rPr>
              <a:t>métriques</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en</a:t>
            </a:r>
            <a:r>
              <a:rPr lang="en-US" sz="1600" dirty="0">
                <a:solidFill>
                  <a:srgbClr val="2B4150"/>
                </a:solidFill>
                <a:latin typeface="Source Sans 3" pitchFamily="34" charset="0"/>
                <a:ea typeface="Source Sans 3" pitchFamily="34" charset="-122"/>
                <a:cs typeface="Source Sans 3" pitchFamily="34" charset="-120"/>
              </a:rPr>
              <a:t> temps réel.</a:t>
            </a:r>
            <a:endParaRPr lang="en-US" sz="1600" dirty="0"/>
          </a:p>
        </p:txBody>
      </p:sp>
      <p:sp>
        <p:nvSpPr>
          <p:cNvPr id="16" name="Shape 14"/>
          <p:cNvSpPr/>
          <p:nvPr/>
        </p:nvSpPr>
        <p:spPr>
          <a:xfrm>
            <a:off x="700206" y="4617961"/>
            <a:ext cx="6532602" cy="2587697"/>
          </a:xfrm>
          <a:prstGeom prst="roundRect">
            <a:avLst>
              <a:gd name="adj" fmla="val 1111"/>
            </a:avLst>
          </a:prstGeom>
          <a:solidFill>
            <a:srgbClr val="325F7B"/>
          </a:solidFill>
          <a:ln/>
        </p:spPr>
      </p:sp>
      <p:sp>
        <p:nvSpPr>
          <p:cNvPr id="17" name="Text 15"/>
          <p:cNvSpPr/>
          <p:nvPr/>
        </p:nvSpPr>
        <p:spPr>
          <a:xfrm>
            <a:off x="877907" y="4795356"/>
            <a:ext cx="2262902" cy="257413"/>
          </a:xfrm>
          <a:prstGeom prst="rect">
            <a:avLst/>
          </a:prstGeom>
          <a:noFill/>
          <a:ln/>
        </p:spPr>
        <p:txBody>
          <a:bodyPr wrap="none" lIns="0" tIns="0" rIns="0" bIns="0" rtlCol="0" anchor="t"/>
          <a:lstStyle/>
          <a:p>
            <a:pPr marL="0" indent="0" algn="l">
              <a:lnSpc>
                <a:spcPts val="2000"/>
              </a:lnSpc>
              <a:buNone/>
            </a:pPr>
            <a:r>
              <a:rPr lang="en-US" b="1" dirty="0">
                <a:solidFill>
                  <a:srgbClr val="FFFFFF"/>
                </a:solidFill>
                <a:latin typeface="MuseoModerno Medium" pitchFamily="34" charset="0"/>
                <a:ea typeface="MuseoModerno Medium" pitchFamily="34" charset="-122"/>
                <a:cs typeface="MuseoModerno Medium" pitchFamily="34" charset="-120"/>
              </a:rPr>
              <a:t>Ce que le projet restera</a:t>
            </a:r>
            <a:endParaRPr lang="en-US" b="1" dirty="0"/>
          </a:p>
        </p:txBody>
      </p:sp>
      <p:sp>
        <p:nvSpPr>
          <p:cNvPr id="18" name="Text 16"/>
          <p:cNvSpPr/>
          <p:nvPr/>
        </p:nvSpPr>
        <p:spPr>
          <a:xfrm>
            <a:off x="850858" y="5080390"/>
            <a:ext cx="6203275" cy="723662"/>
          </a:xfrm>
          <a:prstGeom prst="rect">
            <a:avLst/>
          </a:prstGeom>
          <a:noFill/>
          <a:ln/>
        </p:spPr>
        <p:txBody>
          <a:bodyPr wrap="square" lIns="0" tIns="0" rIns="0" bIns="0" rtlCol="0" anchor="t"/>
          <a:lstStyle/>
          <a:p>
            <a:pPr marL="0" indent="0" algn="l">
              <a:lnSpc>
                <a:spcPts val="1850"/>
              </a:lnSpc>
              <a:buNone/>
            </a:pPr>
            <a:r>
              <a:rPr lang="en-US" sz="1600" dirty="0">
                <a:solidFill>
                  <a:srgbClr val="FFFFFF"/>
                </a:solidFill>
                <a:latin typeface="Source Sans 3" pitchFamily="34" charset="0"/>
                <a:ea typeface="Source Sans 3" pitchFamily="34" charset="-122"/>
                <a:cs typeface="Source Sans 3" pitchFamily="34" charset="-120"/>
              </a:rPr>
              <a:t>L'application sera hébergée sur </a:t>
            </a:r>
            <a:r>
              <a:rPr lang="en-US" sz="1600" b="1" dirty="0">
                <a:solidFill>
                  <a:srgbClr val="FFFFFF"/>
                </a:solidFill>
                <a:latin typeface="Source Sans 3" pitchFamily="34" charset="0"/>
                <a:ea typeface="Source Sans 3" pitchFamily="34" charset="-122"/>
                <a:cs typeface="Source Sans 3" pitchFamily="34" charset="-120"/>
              </a:rPr>
              <a:t>GCP jusqu'au 4 juillet 2026</a:t>
            </a:r>
            <a:r>
              <a:rPr lang="en-US" sz="1600" dirty="0">
                <a:solidFill>
                  <a:srgbClr val="FFFFFF"/>
                </a:solidFill>
                <a:latin typeface="Source Sans 3" pitchFamily="34" charset="0"/>
                <a:ea typeface="Source Sans 3" pitchFamily="34" charset="-122"/>
                <a:cs typeface="Source Sans 3" pitchFamily="34" charset="-120"/>
              </a:rPr>
              <a:t>, et sur Railway jusqu'en fin de semaine. Le repository GitHub restera public. Un second repository sera créé pour partager le travail comme exemple de référence pour d'autres étudiants.</a:t>
            </a:r>
            <a:endParaRPr lang="en-US" sz="1600" dirty="0"/>
          </a:p>
        </p:txBody>
      </p:sp>
      <p:sp>
        <p:nvSpPr>
          <p:cNvPr id="19" name="Text 17"/>
          <p:cNvSpPr/>
          <p:nvPr/>
        </p:nvSpPr>
        <p:spPr>
          <a:xfrm>
            <a:off x="864870" y="6204206"/>
            <a:ext cx="6203275" cy="482441"/>
          </a:xfrm>
          <a:prstGeom prst="rect">
            <a:avLst/>
          </a:prstGeom>
          <a:noFill/>
          <a:ln/>
        </p:spPr>
        <p:txBody>
          <a:bodyPr wrap="square" lIns="0" tIns="0" rIns="0" bIns="0" rtlCol="0" anchor="t"/>
          <a:lstStyle/>
          <a:p>
            <a:pPr marL="0" indent="0" algn="l">
              <a:lnSpc>
                <a:spcPts val="1850"/>
              </a:lnSpc>
              <a:buNone/>
            </a:pPr>
            <a:r>
              <a:rPr lang="en-US" sz="1600" dirty="0">
                <a:solidFill>
                  <a:srgbClr val="FFFFFF"/>
                </a:solidFill>
                <a:latin typeface="Source Sans 3" pitchFamily="34" charset="0"/>
                <a:ea typeface="Source Sans 3" pitchFamily="34" charset="-122"/>
                <a:cs typeface="Source Sans 3" pitchFamily="34" charset="-120"/>
              </a:rPr>
              <a:t>L'incrémentation par branches reflète une progression méthodique : chaque numéro de branche correspond à une étape, les décimales aux variantes mineures.</a:t>
            </a:r>
            <a:endParaRPr lang="en-US" sz="1600" dirty="0"/>
          </a:p>
        </p:txBody>
      </p:sp>
      <p:sp>
        <p:nvSpPr>
          <p:cNvPr id="20" name="Text 18"/>
          <p:cNvSpPr/>
          <p:nvPr/>
        </p:nvSpPr>
        <p:spPr>
          <a:xfrm>
            <a:off x="7523678" y="4655589"/>
            <a:ext cx="2363510" cy="257413"/>
          </a:xfrm>
          <a:prstGeom prst="rect">
            <a:avLst/>
          </a:prstGeom>
          <a:noFill/>
          <a:ln/>
        </p:spPr>
        <p:txBody>
          <a:bodyPr wrap="none" lIns="0" tIns="0" rIns="0" bIns="0" rtlCol="0" anchor="t"/>
          <a:lstStyle/>
          <a:p>
            <a:pPr marL="0" indent="0" algn="l">
              <a:lnSpc>
                <a:spcPts val="2000"/>
              </a:lnSpc>
              <a:buNone/>
            </a:pPr>
            <a:r>
              <a:rPr lang="en-US" dirty="0">
                <a:solidFill>
                  <a:srgbClr val="124E73"/>
                </a:solidFill>
                <a:latin typeface="MuseoModerno Medium" pitchFamily="34" charset="0"/>
                <a:ea typeface="MuseoModerno Medium" pitchFamily="34" charset="-122"/>
                <a:cs typeface="MuseoModerno Medium" pitchFamily="34" charset="-120"/>
              </a:rPr>
              <a:t>Ce que le projet apporte</a:t>
            </a:r>
            <a:endParaRPr lang="en-US" dirty="0"/>
          </a:p>
        </p:txBody>
      </p:sp>
      <p:sp>
        <p:nvSpPr>
          <p:cNvPr id="21" name="Text 19"/>
          <p:cNvSpPr/>
          <p:nvPr/>
        </p:nvSpPr>
        <p:spPr>
          <a:xfrm>
            <a:off x="7457301" y="4990747"/>
            <a:ext cx="6295192" cy="723662"/>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Au-delà des compétences techniques, ce projet a cultivé une </a:t>
            </a:r>
            <a:r>
              <a:rPr lang="en-US" sz="1600" b="1" dirty="0">
                <a:solidFill>
                  <a:srgbClr val="2B4150"/>
                </a:solidFill>
                <a:latin typeface="Source Sans 3" pitchFamily="34" charset="0"/>
                <a:ea typeface="Source Sans 3" pitchFamily="34" charset="-122"/>
                <a:cs typeface="Source Sans 3" pitchFamily="34" charset="-120"/>
              </a:rPr>
              <a:t>approche d'apprentissage par l'expérimentation</a:t>
            </a:r>
            <a:r>
              <a:rPr lang="en-US" sz="1600" dirty="0">
                <a:solidFill>
                  <a:srgbClr val="2B4150"/>
                </a:solidFill>
                <a:latin typeface="Source Sans 3" pitchFamily="34" charset="0"/>
                <a:ea typeface="Source Sans 3" pitchFamily="34" charset="-122"/>
                <a:cs typeface="Source Sans 3" pitchFamily="34" charset="-120"/>
              </a:rPr>
              <a:t> : tester, échouer, comprendre, corriger. Oracle Cloud n'a pas fonctionné ? Migration vers GCP. Le Docker-in-Docker n'a pas abouti ? La leçon reste gravée.</a:t>
            </a:r>
            <a:endParaRPr lang="en-US" sz="1600" dirty="0"/>
          </a:p>
        </p:txBody>
      </p:sp>
      <p:sp>
        <p:nvSpPr>
          <p:cNvPr id="22" name="Text 20"/>
          <p:cNvSpPr/>
          <p:nvPr/>
        </p:nvSpPr>
        <p:spPr>
          <a:xfrm>
            <a:off x="7457301" y="6083596"/>
            <a:ext cx="6295192" cy="723662"/>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Une infrastructure hébergée dans le cloud, montée par Terraform, configurée par Ansible, supervisée par Uptime Kuma — et déployable en quelques commandes. C'est précisément ce qu'on attend d'un administrateur systèmes DevOps.</a:t>
            </a:r>
            <a:endParaRPr lang="en-US" sz="1600" dirty="0"/>
          </a:p>
        </p:txBody>
      </p:sp>
      <p:pic>
        <p:nvPicPr>
          <p:cNvPr id="24" name="Image 23">
            <a:extLst>
              <a:ext uri="{FF2B5EF4-FFF2-40B4-BE49-F238E27FC236}">
                <a16:creationId xmlns:a16="http://schemas.microsoft.com/office/drawing/2014/main" id="{E155A6A3-BE59-3DDA-A961-589A36EA38AF}"/>
              </a:ext>
            </a:extLst>
          </p:cNvPr>
          <p:cNvPicPr>
            <a:picLocks noChangeAspect="1"/>
          </p:cNvPicPr>
          <p:nvPr/>
        </p:nvPicPr>
        <p:blipFill>
          <a:blip r:embed="rId3"/>
          <a:stretch>
            <a:fillRect/>
          </a:stretch>
        </p:blipFill>
        <p:spPr>
          <a:xfrm>
            <a:off x="10629342" y="7382812"/>
            <a:ext cx="4001058" cy="7906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TotalTime>
  <Words>2723</Words>
  <Application>Microsoft Office PowerPoint</Application>
  <PresentationFormat>Personnalisé</PresentationFormat>
  <Paragraphs>188</Paragraphs>
  <Slides>15</Slides>
  <Notes>15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Source Sans 3</vt:lpstr>
      <vt:lpstr>Consolas</vt:lpstr>
      <vt:lpstr>Arial</vt:lpstr>
      <vt:lpstr>MuseoModerno Medium</vt:lpstr>
      <vt:lpstr>MuseoModerno Light</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Guillian Thomas</cp:lastModifiedBy>
  <cp:revision>49</cp:revision>
  <cp:lastPrinted>2026-04-07T10:53:33Z</cp:lastPrinted>
  <dcterms:created xsi:type="dcterms:W3CDTF">2026-04-06T19:01:18Z</dcterms:created>
  <dcterms:modified xsi:type="dcterms:W3CDTF">2026-04-07T11:10:03Z</dcterms:modified>
</cp:coreProperties>
</file>